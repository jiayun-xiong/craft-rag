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3" Type="http://schemas.openxmlformats.org/officeDocument/2006/relationships/custom-properties" Target="docProps/custom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8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5" Type="http://schemas.openxmlformats.org/officeDocument/2006/relationships/slide" Target="slides/slide15.xml" /><Relationship Id="rId6" Type="http://schemas.openxmlformats.org/officeDocument/2006/relationships/slide" Target="slides/slide6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4" Type="http://schemas.openxmlformats.org/officeDocument/2006/relationships/slide" Target="slides/slide14.xml" /><Relationship Id="rId11" Type="http://schemas.openxmlformats.org/officeDocument/2006/relationships/slide" Target="slides/slide11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notesMaster" Target="notesMasters/notesMaster1.xml" /><Relationship Id="rId19" Type="http://schemas.openxmlformats.org/officeDocument/2006/relationships/presProps" Target="presProps.xml" /><Relationship Id="rId2" Type="http://schemas.openxmlformats.org/officeDocument/2006/relationships/slide" Target="slides/slide2.xml" /><Relationship Id="rId20" Type="http://schemas.openxmlformats.org/officeDocument/2006/relationships/tableStyles" Target="tableStyles.xml" /><Relationship Id="rId21" Type="http://schemas.openxmlformats.org/officeDocument/2006/relationships/viewProps" Target="viewProps.xml" /><Relationship Id="rId3" Type="http://schemas.openxmlformats.org/officeDocument/2006/relationships/slide" Target="slides/slide3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alphaModFix amt="12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524500" y="0"/>
            <a:ext cx="6667500" cy="6858000"/>
          </a:xfrm>
          <a:prstGeom prst="rect">
            <a:avLst/>
          </a:prstGeom>
          <a:ln/>
        </p:spPr>
      </p:pic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571500" y="457200"/>
            <a:ext cx="2286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150">
                <a:solidFill>
                  <a:srgbClr val="8FB3E8"/>
                </a:solidFill>
                <a:latin typeface="Microsoft YaHei"/>
                <a:ea typeface="Microsoft YaHei"/>
              </a:rPr>
              <a:t>中国科学技术大学软件学院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9963150" y="466725"/>
            <a:ext cx="1657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FB3E8"/>
                </a:solidFill>
                <a:latin typeface="Microsoft YaHei"/>
                <a:ea typeface="Microsoft YaHei"/>
              </a:rPr>
              <a:t>软件工程实践</a:t>
            </a:r>
            <a:r>
              <a:rPr lang="en-US" sz="1200">
                <a:solidFill>
                  <a:srgbClr val="8FB3E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8FB3E8"/>
                </a:solidFill>
                <a:latin typeface="Microsoft YaHei"/>
                <a:ea typeface="Microsoft YaHei"/>
              </a:rPr>
              <a:t>开题答辩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5724525" y="2505075"/>
            <a:ext cx="742950" cy="381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3638550" y="2847975"/>
            <a:ext cx="4914900" cy="6477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4200" b="1" spc="150">
                <a:solidFill>
                  <a:srgbClr val="FFFFFF"/>
                </a:solidFill>
                <a:latin typeface="Microsoft YaHei"/>
                <a:ea typeface="Microsoft YaHei"/>
              </a:rPr>
              <a:t>基于</a:t>
            </a:r>
            <a:r>
              <a:rPr lang="en-US" sz="4200" b="1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RAG </a:t>
            </a:r>
            <a:r>
              <a:rPr lang="zh-CN" sz="4200" b="1" spc="150">
                <a:solidFill>
                  <a:srgbClr val="FFFFFF"/>
                </a:solidFill>
                <a:latin typeface="Microsoft YaHei"/>
                <a:ea typeface="Microsoft YaHei"/>
              </a:rPr>
              <a:t>的轻量级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3886200" y="3571875"/>
            <a:ext cx="4419600" cy="6477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4200" b="1" spc="150">
                <a:solidFill>
                  <a:srgbClr val="FFFFFF"/>
                </a:solidFill>
                <a:latin typeface="Microsoft YaHei"/>
                <a:ea typeface="Microsoft YaHei"/>
              </a:rPr>
              <a:t>企业工艺生成系统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590675" y="4486275"/>
            <a:ext cx="901065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650" spc="75">
                <a:solidFill>
                  <a:srgbClr val="8FB3E8"/>
                </a:solidFill>
                <a:latin typeface="Microsoft YaHei"/>
                <a:ea typeface="Microsoft YaHei"/>
              </a:rPr>
              <a:t>A Lightweight Enterprise Manufacturing Process Generation System Based on RAG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0" y="5715000"/>
            <a:ext cx="12192000" cy="1143000"/>
          </a:xfrm>
          <a:prstGeom prst="rect">
            <a:avLst/>
          </a:prstGeom>
          <a:solidFill>
            <a:srgbClr val="000000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571500" y="6067425"/>
            <a:ext cx="2695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B3E8"/>
                </a:solidFill>
                <a:latin typeface="Microsoft YaHei"/>
                <a:ea typeface="Microsoft YaHei"/>
              </a:rPr>
              <a:t>团队成员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571500" y="6286500"/>
            <a:ext cx="2695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熊佳昀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齐梦伟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张承伟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资唯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3648075" y="6086475"/>
            <a:ext cx="9525" cy="4191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038600" y="60674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B3E8"/>
                </a:solidFill>
                <a:latin typeface="Microsoft YaHei"/>
                <a:ea typeface="Microsoft YaHei"/>
              </a:rPr>
              <a:t>指导教师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038600" y="6286500"/>
            <a:ext cx="533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丁箐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0515600" y="6181725"/>
            <a:ext cx="1104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8FB3E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350">
                <a:solidFill>
                  <a:srgbClr val="8FB3E8"/>
                </a:solidFill>
                <a:latin typeface="Microsoft YaHei"/>
                <a:ea typeface="Microsoft YaHei"/>
              </a:rPr>
              <a:t>年</a:t>
            </a:r>
            <a:r>
              <a:rPr lang="en-US" sz="1350">
                <a:solidFill>
                  <a:srgbClr val="8FB3E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350">
                <a:solidFill>
                  <a:srgbClr val="8FB3E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0" y="0"/>
            <a:ext cx="3048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457200" y="2809875"/>
            <a:ext cx="457200" cy="381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457200" y="3114675"/>
            <a:ext cx="21336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 spc="300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457200" y="3819525"/>
            <a:ext cx="2133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8FB3E8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3733800" y="923925"/>
            <a:ext cx="7886700" cy="800100"/>
          </a:xfrm>
          <a:custGeom>
            <a:pathLst>
              <a:path w="828" h="84">
                <a:moveTo>
                  <a:pt x="0" y="83"/>
                </a:moveTo>
                <a:lnTo>
                  <a:pt x="828" y="83"/>
                </a:lnTo>
                <a:lnTo>
                  <a:pt x="828" y="84"/>
                </a:lnTo>
                <a:lnTo>
                  <a:pt x="0" y="84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3733800" y="923925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3876675" y="1076325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4572000" y="933450"/>
            <a:ext cx="22669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选题背景与意义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4572000" y="1295400"/>
            <a:ext cx="2266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工艺知识痛点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通用大模型的局限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3733800" y="1981200"/>
            <a:ext cx="7886700" cy="800100"/>
          </a:xfrm>
          <a:custGeom>
            <a:pathLst>
              <a:path w="828" h="84">
                <a:moveTo>
                  <a:pt x="0" y="83"/>
                </a:moveTo>
                <a:lnTo>
                  <a:pt x="828" y="83"/>
                </a:lnTo>
                <a:lnTo>
                  <a:pt x="828" y="84"/>
                </a:lnTo>
                <a:lnTo>
                  <a:pt x="0" y="84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3733800" y="1981200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3876675" y="2133600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4572000" y="1990725"/>
            <a:ext cx="18669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项目目标与需求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4572000" y="2352675"/>
            <a:ext cx="1866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双链路定位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五大功能需求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3733800" y="3038475"/>
            <a:ext cx="7886700" cy="800100"/>
          </a:xfrm>
          <a:custGeom>
            <a:pathLst>
              <a:path w="828" h="84">
                <a:moveTo>
                  <a:pt x="0" y="83"/>
                </a:moveTo>
                <a:lnTo>
                  <a:pt x="828" y="83"/>
                </a:lnTo>
                <a:lnTo>
                  <a:pt x="828" y="84"/>
                </a:lnTo>
                <a:lnTo>
                  <a:pt x="0" y="84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3733800" y="3038475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3876675" y="3190875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4572000" y="3048000"/>
            <a:ext cx="20859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技术方案与选型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4572000" y="3409950"/>
            <a:ext cx="2085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总体架构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关键技术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组件选型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3733800" y="4095750"/>
            <a:ext cx="7886700" cy="800100"/>
          </a:xfrm>
          <a:custGeom>
            <a:pathLst>
              <a:path w="828" h="84">
                <a:moveTo>
                  <a:pt x="0" y="83"/>
                </a:moveTo>
                <a:lnTo>
                  <a:pt x="828" y="83"/>
                </a:lnTo>
                <a:lnTo>
                  <a:pt x="828" y="84"/>
                </a:lnTo>
                <a:lnTo>
                  <a:pt x="0" y="84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3733800" y="4095750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3876675" y="4248150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4572000" y="4105275"/>
            <a:ext cx="22193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开发方法与进度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4572000" y="4467225"/>
            <a:ext cx="2219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迭代开发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测试方案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7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阶段安排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3733800" y="5153025"/>
            <a:ext cx="7886700" cy="800100"/>
          </a:xfrm>
          <a:custGeom>
            <a:pathLst>
              <a:path w="828" h="84">
                <a:moveTo>
                  <a:pt x="0" y="83"/>
                </a:moveTo>
                <a:lnTo>
                  <a:pt x="828" y="83"/>
                </a:lnTo>
                <a:lnTo>
                  <a:pt x="828" y="84"/>
                </a:lnTo>
                <a:lnTo>
                  <a:pt x="0" y="84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3733800" y="5153025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3876675" y="5305425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4572000" y="5162550"/>
            <a:ext cx="19050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预期成果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4572000" y="5524500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系统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指令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文档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评估报告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2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0" y="0"/>
            <a:ext cx="3429000" cy="68580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542925" y="2286000"/>
            <a:ext cx="23526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0E3F8C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4114800" y="1819275"/>
            <a:ext cx="457200" cy="381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4114800" y="2124075"/>
            <a:ext cx="75057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1A2230"/>
                </a:solidFill>
                <a:latin typeface="Microsoft YaHei"/>
                <a:ea typeface="Microsoft YaHei"/>
              </a:rPr>
              <a:t>选题背景与意义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4114800" y="2943225"/>
            <a:ext cx="7505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75">
                <a:solidFill>
                  <a:srgbClr val="8B97A8"/>
                </a:solidFill>
                <a:latin typeface="Microsoft YaHei"/>
                <a:ea typeface="Microsoft YaHei"/>
              </a:rPr>
              <a:t>研究意义</a:t>
            </a:r>
            <a:r>
              <a:rPr lang="en-US" sz="1500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spc="75">
                <a:solidFill>
                  <a:srgbClr val="8B97A8"/>
                </a:solidFill>
                <a:latin typeface="Microsoft YaHei"/>
                <a:ea typeface="Microsoft YaHei"/>
              </a:rPr>
              <a:t>国内外现状</a:t>
            </a:r>
            <a:r>
              <a:rPr lang="en-US" sz="1500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spc="75">
                <a:solidFill>
                  <a:srgbClr val="8B97A8"/>
                </a:solidFill>
                <a:latin typeface="Microsoft YaHei"/>
                <a:ea typeface="Microsoft YaHei"/>
              </a:rPr>
              <a:t>选题价值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4114800" y="36480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4343400" y="3552825"/>
            <a:ext cx="50292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机械加工工艺知识高度依赖人工经验，手册检索效率低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4114800" y="42005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4343400" y="4105275"/>
            <a:ext cx="33528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工艺知识传承困难，标准更新不及时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4114800" y="47529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4343400" y="4657725"/>
            <a:ext cx="46101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通用大模型直接生成参数存在幻觉与不可追溯问题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2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2543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基于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RAG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的轻量级企业工艺生成系统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11277600" y="2667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选题背景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381000" y="9525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通用大模型直接生成工艺参数的三大痛点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381000" y="1457325"/>
            <a:ext cx="6467475" cy="1066800"/>
          </a:xfrm>
          <a:prstGeom prst="roundRect">
            <a:avLst>
              <a:gd name="adj" fmla="val 892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590550" y="166687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95325" y="177165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1219200" y="1666875"/>
            <a:ext cx="5419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知识覆盖不全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1219200" y="2000250"/>
            <a:ext cx="541972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训练数据缺乏企业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/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行业内部的专业工艺资料，关键参数缺失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381000" y="2714625"/>
            <a:ext cx="6467475" cy="1066800"/>
          </a:xfrm>
          <a:prstGeom prst="roundRect">
            <a:avLst>
              <a:gd name="adj" fmla="val 892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590550" y="292417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695325" y="302895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219200" y="2924175"/>
            <a:ext cx="5419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幻觉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安全风险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1219200" y="3257550"/>
            <a:ext cx="541972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模型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一本正经地编造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切削参数，错误参数可能致刀具崩损、零件报废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381000" y="3971925"/>
            <a:ext cx="6467475" cy="1066800"/>
          </a:xfrm>
          <a:prstGeom prst="roundRect">
            <a:avLst>
              <a:gd name="adj" fmla="val 892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590550" y="418147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695325" y="428625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1219200" y="4181475"/>
            <a:ext cx="5419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不可追溯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1219200" y="4514850"/>
            <a:ext cx="541972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生成结果无来源依据，无法核对，难以满足工程可验证、可担责要求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7191375" y="1457325"/>
            <a:ext cx="4619625" cy="4829175"/>
          </a:xfrm>
          <a:prstGeom prst="roundRect">
            <a:avLst>
              <a:gd name="adj" fmla="val 2474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7458075" y="2838450"/>
            <a:ext cx="4086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8FB3E8"/>
                </a:solidFill>
                <a:latin typeface="Microsoft YaHei"/>
                <a:ea typeface="Microsoft YaHei"/>
              </a:rPr>
              <a:t>我们的方案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7458075" y="3143250"/>
            <a:ext cx="4086225" cy="485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检索增强生成（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RAG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7458075" y="3781425"/>
            <a:ext cx="4086225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D6E4F7"/>
                </a:solidFill>
                <a:latin typeface="Microsoft YaHei"/>
                <a:ea typeface="Microsoft YaHei"/>
              </a:rPr>
              <a:t>先检索、后生成，让模型基于权威工艺资料作答，从源头缓解幻觉与不可追溯问题。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7458075" y="4810125"/>
            <a:ext cx="3438525" cy="381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1010900" y="47434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B3E8"/>
                </a:solidFill>
                <a:latin typeface="Microsoft YaHei"/>
                <a:ea typeface="Microsoft YaHei"/>
              </a:rPr>
              <a:t>对症下药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中国科学技术大学软件学院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11268075" y="65722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04 / 17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3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0" y="0"/>
            <a:ext cx="3429000" cy="68580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542925" y="2286000"/>
            <a:ext cx="23526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0E3F8C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4114800" y="169545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4114800" y="2000250"/>
            <a:ext cx="75057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1A2230"/>
                </a:solidFill>
                <a:latin typeface="Microsoft YaHei"/>
                <a:ea typeface="Microsoft YaHei"/>
              </a:rPr>
              <a:t>项目目标与需求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4114800" y="2819400"/>
            <a:ext cx="7505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75">
                <a:solidFill>
                  <a:srgbClr val="8B97A8"/>
                </a:solidFill>
                <a:latin typeface="Microsoft YaHei"/>
                <a:ea typeface="Microsoft YaHei"/>
              </a:rPr>
              <a:t>双链路定位</a:t>
            </a:r>
            <a:r>
              <a:rPr lang="en-US" sz="1500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spc="75">
                <a:solidFill>
                  <a:srgbClr val="8B97A8"/>
                </a:solidFill>
                <a:latin typeface="Microsoft YaHei"/>
                <a:ea typeface="Microsoft YaHei"/>
              </a:rPr>
              <a:t>五大功能需求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4114800" y="3429000"/>
            <a:ext cx="7505700" cy="1733550"/>
          </a:xfrm>
          <a:prstGeom prst="roundRect">
            <a:avLst>
              <a:gd name="adj" fmla="val 549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4343400" y="3657600"/>
            <a:ext cx="7048500" cy="4476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构建「离线建库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在线问答」的轻量级工艺生成系统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4343400" y="4200525"/>
            <a:ext cx="70485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把工艺手册中的参数转化为可检索、可溯源的知识，自动生成带引用、可核对的加工指令。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3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2543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基于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RAG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的轻量级企业工艺生成系统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11277600" y="2667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项目目标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381000" y="95250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381000" y="1143000"/>
            <a:ext cx="28575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五大功能需求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381000" y="1809750"/>
            <a:ext cx="2857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对应选题五条硬性要求，一条不落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381000" y="2314575"/>
            <a:ext cx="2857500" cy="1123950"/>
          </a:xfrm>
          <a:prstGeom prst="roundRect">
            <a:avLst>
              <a:gd name="adj" fmla="val 6780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552450" y="2486025"/>
            <a:ext cx="2514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覆盖完整</a:t>
            </a: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RAG </a:t>
            </a: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链路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552450" y="2752725"/>
            <a:ext cx="2514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解析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检索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重排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生成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溯源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评估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381000" y="5143500"/>
            <a:ext cx="2857500" cy="1181100"/>
          </a:xfrm>
          <a:prstGeom prst="roundRect">
            <a:avLst>
              <a:gd name="adj" fmla="val 6452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552450" y="5314950"/>
            <a:ext cx="2514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核心目标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552450" y="5600700"/>
            <a:ext cx="25146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D6E4F7"/>
                </a:solidFill>
                <a:latin typeface="Microsoft YaHei"/>
                <a:ea typeface="Microsoft YaHei"/>
              </a:rPr>
              <a:t>生成的参数真实可用、可核对、可追溯，而非仅供演示的玩具</a:t>
            </a:r>
            <a:r>
              <a:rPr lang="en-US" sz="1125">
                <a:solidFill>
                  <a:srgbClr val="D6E4F7"/>
                </a:solidFill>
                <a:latin typeface="Microsoft YaHei"/>
                <a:ea typeface="Microsoft YaHei"/>
              </a:rPr>
              <a:t xml:space="preserve"> Demo</a:t>
            </a:r>
            <a:r>
              <a:rPr lang="zh-CN" sz="1125">
                <a:solidFill>
                  <a:srgbClr val="D6E4F7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3619500" y="952500"/>
            <a:ext cx="8191500" cy="857250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3771900" y="117157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3886200" y="126682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4381500" y="1104900"/>
            <a:ext cx="7277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文档格式解析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4381500" y="1400175"/>
            <a:ext cx="72771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解析工艺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PDF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的文字、表格、页码与版面结构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3619500" y="1943100"/>
            <a:ext cx="8191500" cy="857250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3771900" y="216217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3886200" y="225742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4381500" y="2095500"/>
            <a:ext cx="7277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稠密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稀疏混合召回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4381500" y="2390775"/>
            <a:ext cx="72771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BGE-M3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稠密向量检索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+ BM25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关键词检索，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RRF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融合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3619500" y="2933700"/>
            <a:ext cx="8191500" cy="857250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3771900" y="315277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3886200" y="324802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4381500" y="3086100"/>
            <a:ext cx="7277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重排序模块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4381500" y="3381375"/>
            <a:ext cx="72771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Cross-encoder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bge-reranker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）二次精排，提升检索精度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3619500" y="3924300"/>
            <a:ext cx="8191500" cy="857250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3771900" y="414337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3886200" y="423862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4381500" y="4076700"/>
            <a:ext cx="7277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多轮对话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引用溯源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4381500" y="4371975"/>
            <a:ext cx="72771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上下文追问、查询改写；每条参数标注来源页码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3619500" y="4914900"/>
            <a:ext cx="8191500" cy="857250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3771900" y="513397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3886200" y="522922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4381500" y="5067300"/>
            <a:ext cx="7277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多文档测试（人工评估）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4381500" y="5362575"/>
            <a:ext cx="72771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多份文档构建测试集，人工评估准确率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中国科学技术大学软件学院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11268075" y="65722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06 / 17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2543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基于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RAG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的轻量级企业工艺生成系统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11277600" y="2667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项目目标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381000" y="895350"/>
            <a:ext cx="3028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系统用例图（</a:t>
            </a:r>
            <a:r>
              <a:rPr lang="en-US" sz="2550" b="1">
                <a:solidFill>
                  <a:srgbClr val="1A2230"/>
                </a:solidFill>
                <a:latin typeface="Microsoft YaHei"/>
                <a:ea typeface="Microsoft YaHei"/>
              </a:rPr>
              <a:t>UML</a:t>
            </a: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3562350" y="895350"/>
            <a:ext cx="20669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Use Case Diagram ·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需求分析</a:t>
            </a:r>
            <a:endParaRPr/>
          </a:p>
        </p:txBody>
      </p:sp>
      <p:pic>
        <p:nvPicPr>
          <p:cNvPr id="3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1428750"/>
            <a:ext cx="11239500" cy="4953000"/>
          </a:xfrm>
          <a:prstGeom prst="rect">
            <a:avLst/>
          </a:prstGeom>
          <a:ln/>
        </p:spPr>
      </p:pic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中国科学技术大学软件学院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11268075" y="65722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07 / 17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2543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基于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RAG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的轻量级企业工艺生成系统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11277600" y="2667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技术方案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381000" y="89535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系统总体架构：双链路</a:t>
            </a:r>
            <a:endParaRPr/>
          </a:p>
        </p:txBody>
      </p:sp>
      <p:pic>
        <p:nvPicPr>
          <p:cNvPr id="3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1457325"/>
            <a:ext cx="11239500" cy="4857750"/>
          </a:xfrm>
          <a:prstGeom prst="rect">
            <a:avLst/>
          </a:prstGeom>
          <a:ln/>
        </p:spPr>
      </p:pic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中国科学技术大学软件学院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11268075" y="65722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08 / 17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73" name="" descr="&lt;Slide&gt;&#10;  &lt;Box style={{ width: '1280px', height: '720px', background: '#FFFFFF', flexDirection: 'column' }}&gt;&#10;    {/* 页眉 */}&#10;    &lt;Box style={{ height: 72, background: '#1E4FA8', flexDirection: 'row', alignItems: 'center', justifyContent: 'space-between', paddingLeft: 40, paddingRight: 40 }}&gt;&#10;      &lt;Text style={{ color: '#FFFFFF', fontSize: 16 }}&gt;基于 RAG 的轻量级企业工艺生成系统&lt;/Text&gt;&#10;      &lt;Text style={{ color: 'rgba(255,255,255,0.85)', fontSize: 14 }}&gt;技术方案&lt;/Text&gt;&#10;    &lt;/Box&gt;&#10;&#10;    {/* 主标题 */}&#10;    &lt;Box style={{ paddingLeft: 40, paddingRight: 40, paddingTop: 22, paddingBottom: 8, flexDirection: 'row', alignItems: 'baseline', gap: 16 }}&gt;&#10;      &lt;Text style={{ color: '#1A2230', fontSize: 34, fontWeight: 'bold' }}&gt;系统组件图（UML）&lt;/Text&gt;&#10;      &lt;Text style={{ color: '#8B97A8', fontSize: 16 }}&gt;Component Diagram · 概要设计&lt;/Text&gt;&#10;    &lt;/Box&gt;&#10;&#10;    {/* 组件图（大图 anchor） */}&#10;    &lt;Box style={{ flex: 1, paddingLeft: 40, paddingRight: 40, paddingBottom: 4, alignItems: 'center', justifyContent: 'center' }}&gt;&#10;      &lt;svg width={1180} height={520} viewBox='0 0 1180 520'&gt;&#10;        {/* 离线建库链路（一组组件，用虚线框表示逻辑分组，非泳道） */}&#10;        &lt;text x='40' y='50' font-size='19' font-weight='bold' fill='#0E3F8C'&gt;离线建库（一次构建）&lt;/text&gt;&#10;&#10;        &lt;g&gt;&#10;          &lt;rect x='40' y='70' width='220' height='95' rx='6' fill='#FFFFFF' stroke='#1E4FA8' strokeWidth='2' /&gt;&#10;          &lt;rect x='226' y='62' width='22' height='12' rx='2' fill='#FFFFFF' stroke='#1E4FA8' strokeWidth='1.5' /&gt;&#10;          &lt;rect x='234' y='58' width='12' height='8' rx='2' fill='#FFFFFF' stroke='#1E4FA8' strokeWidth='1.5' /&gt;&#10;          &lt;text x='150' y='105' text-anchor='middle' font-size='17' font-weight='bold' fill='#1A2230'&gt;文档解析&lt;/text&gt;&#10;          &lt;text x='150' y='127' text-anchor='middle' font-size='12' fill='#8B97A8'&gt;«component»&lt;/text&gt;&#10;          &lt;text x='150' y='149' text-anchor='middle' font-size='12' fill='#4A5568'&gt;PyMuPDF + pdfplumber&lt;/text&gt;&#10;&#10;          &lt;rect x='320' y='70' width='220' height='95' rx='6' fill='#FFFFFF' stroke='#1E4FA8' strokeWidth='2' /&gt;&#10;          &lt;rect x='506' y='62' width='22' height='12' rx='2' fill='#FFFFFF' stroke='#1E4FA8' strokeWidth='1.5' /&gt;&#10;          &lt;rect x='514' y='58' width='12' height='8' rx='2' fill='#FFFFFF' stroke='#1E4FA8' strokeWidth='1.5' /&gt;&#10;          &lt;text x='430' y='105' text-anchor='middle' font-size='17' font-weight='bold' fill='#1A2230'&gt;文档分块&lt;/text&gt;&#10;          &lt;text x='430' y='127' text-anchor='middle' font-size='12' fill='#8B97A8'&gt;«component»&lt;/text&gt;&#10;          &lt;text x='430' y='149' text-anchor='middle' font-size='12' fill='#4A5568'&gt;递归分块 + 表格保护&lt;/text&gt;&#10;&#10;          &lt;rect x='600' y='70' width='220' height='95' rx='6' fill='#FFFFFF' stroke='#1E4FA8' strokeWidth='2' /&gt;&#10;          &lt;rect x='786' y='62' width='22' height='12' rx='2' fill='#FFFFFF' stroke='#1E4FA8' strokeWidth='1.5' /&gt;&#10;          &lt;rect x='794' y='58' width='12' height='8' rx='2' fill='#FFFFFF' stroke='#1E4FA8' strokeWidth='1.5' /&gt;&#10;          &lt;text x='710' y='105' text-anchor='middle' font-size='17' font-weight='bold' fill='#1A2230'&gt;向量化&lt;/text&gt;&#10;          &lt;text x='710' y='127' text-anchor='middle' font-size='12' fill='#8B97A8'&gt;«component»&lt;/text&gt;&#10;          &lt;text x='710' y='149' text-anchor='middle' font-size='12' fill='#4A5568'&gt;BGE-M3 嵌入&lt;/text&gt;&#10;&#10;          &lt;rect x='880' y='70' width='220' height='95' rx='6' fill='#1E4FA8' /&gt;&#10;          &lt;rect x='1066' y='62' width='22' height='12' rx='2' fill='#1E4FA8' stroke='#FFFFFF' strokeWidth='1.5' /&gt;&#10;          &lt;rect x='1074' y='58' width='12' height='8' rx='2' fill='#1E4FA8' stroke='#FFFFFF' strokeWidth='1.5' /&gt;&#10;          &lt;text x='990' y='105' text-anchor='middle' font-size='17' font-weight='bold' fill='#FFFFFF'&gt;索引构建&lt;/text&gt;&#10;          &lt;text x='990' y='127' text-anchor='middle' font-size='12' fill='#D6E4F7'&gt;«component»&lt;/text&gt;&#10;          &lt;text x='990' y='149' text-anchor='middle' font-size='12' fill='#D6E4F7'&gt;Chroma + BM25&lt;/text&gt;&#10;        &lt;/g&gt;&#10;        {/* 离线依赖箭头（虚线开放箭头 = UML 依赖） */}&#10;        &lt;g stroke='#3D7BD9' stroke-width='2' fill='none' stroke-dasharray='6 4'&gt;&#10;          &lt;path d='M260 117 L312 117' /&gt;&#10;          &lt;path d='M540 117 L592 117' /&gt;&#10;          &lt;path d='M820 117 L872 117' /&gt;&#10;        &lt;/g&gt;&#10;        &lt;g stroke='#3D7BD9' stroke-width='2' fill='#3D7BD9'&gt;&#10;          &lt;path d='M312 117 l-8 -6 v12 z' /&gt;&#10;          &lt;path d='M592 117 l-8 -6 v12 z' /&gt;&#10;          &lt;path d='M872 117 l-8 -6 v12 z' /&gt;&#10;        &lt;/g&gt;&#10;        {/* 接口名（棒棒糖 lollipop，标注在依赖关系上） */}&#10;        &lt;g font-size='11' fill='#3D7BD9'&gt;&#10;          &lt;text x='286' y='108'&gt;IChunk&lt;/text&gt;&#10;          &lt;text x='566' y='108'&gt;IVector&lt;/text&gt;&#10;          &lt;text x='846' y='108'&gt;IIndex&lt;/text&gt;&#10;        &lt;/g&gt;&#10;&#10;        {/* 在线问答链路（一组组件） */}&#10;        &lt;text x='40' y='245' font-size='19' font-weight='bold' fill='#0E3F8C'&gt;在线问答（每次提问）&lt;/text&gt;&#10;&#10;        &lt;g&gt;&#10;          &lt;rect x='40' y='265' width='165' height='95' rx='6' fill='#FFFFFF' stroke='#1E4FA8' strokeWidth='2' /&gt;&#10;          &lt;rect x='171' y='257' width='22' height='12' rx='2' fill='#FFFFFF' stroke='#1E4FA8' strokeWidth='1.5' /&gt;&#10;          &lt;rect x='179' y='253' width='12' height='8' rx='2' fill='#FFFFFF' stroke='#1E4FA8' strokeWidth='1.5' /&gt;&#10;          &lt;text x='122' y='300' text-anchor='middle' font-size='16' font-weight='bold' fill='#1A2230'&gt;对话管理&lt;/text&gt;&#10;          &lt;text x='122' y='322' text-anchor='middle' font-size='12' fill='#8B97A8'&gt;«component»&lt;/text&gt;&#10;          &lt;text x='122' y='344' text-anchor='middle' font-size='12' fill='#4A5568'&gt;查询改写&lt;/text&gt;&#10;&#10;          &lt;rect x='243' y='265' width='165' height='95' rx='6' fill='#FFFFFF' stroke='#1E4FA8' strokeWidth='2' /&gt;&#10;          &lt;rect x='374' y='257' width='22' height='12' rx='2' fill='#FFFFFF' stroke='#1E4FA8' strokeWidth='1.5' /&gt;&#10;          &lt;rect x='382' y='253' width='12' height='8' rx='2' fill='#FFFFFF' stroke='#1E4FA8' strokeWidth='1.5' /&gt;&#10;          &lt;text x='325' y='300' text-anchor='middle' font-size='16' font-weight='bold' fill='#1A2230'&gt;混合检索&lt;/text&gt;&#10;          &lt;text x='325' y='322' text-anchor='middle' font-size='12' fill='#8B97A8'&gt;«component»&lt;/text&gt;&#10;          &lt;text x='325' y='344' text-anchor='middle' font-size='12' fill='#4A5568'&gt;稠密 + 稀疏&lt;/text&gt;&#10;&#10;          &lt;rect x='446' y='265' width='165' height='95' rx='6' fill='#FFFFFF' stroke='#1E4FA8' strokeWidth='2' /&gt;&#10;          &lt;rect x='577' y='257' width='22' height='12' rx='2' fill='#FFFFFF' stroke='#1E4FA8' strokeWidth='1.5' /&gt;&#10;          &lt;rect x='585' y='253' width='12' height='8' rx='2' fill='#FFFFFF' stroke='#1E4FA8' strokeWidth='1.5' /&gt;&#10;          &lt;text x='528' y='300' text-anchor='middle' font-size='16' font-weight='bold' fill='#1A2230'&gt;重排序&lt;/text&gt;&#10;          &lt;text x='528' y='322' text-anchor='middle' font-size='12' fill='#8B97A8'&gt;«component»&lt;/text&gt;&#10;          &lt;text x='528' y='344' text-anchor='middle' font-size='12' fill='#4A5568'&gt;bge-reranker&lt;/text&gt;&#10;&#10;          &lt;rect x='649' y='265' width='165' height='95' rx='6' fill='#FFFFFF' stroke='#1E4FA8' strokeWidth='2' /&gt;&#10;          &lt;rect x='780' y='257' width='22' height='12' rx='2' fill='#FFFFFF' stroke='#1E4FA8' strokeWidth='1.5' /&gt;&#10;          &lt;rect x='788' y='253' width='12' height='8' rx='2' fill='#FFFFFF' stroke='#1E4FA8' strokeWidth='1.5' /&gt;&#10;          &lt;text x='731' y='300' text-anchor='middle' font-size='16' font-weight='bold' fill='#1A2230'&gt;生成&lt;/text&gt;&#10;          &lt;text x='731' y='322' text-anchor='middle' font-size='12' fill='#8B97A8'&gt;«component»&lt;/text&gt;&#10;          &lt;text x='731' y='344' text-anchor='middle' font-size='12' fill='#4A5568'&gt;大模型 API&lt;/text&gt;&#10;&#10;          &lt;rect x='852' y='265' width='165' height='95' rx='6' fill='#FFFFFF' stroke='#1E4FA8' strokeWidth='2' /&gt;&#10;          &lt;rect x='983' y='257' width='22' height='12' rx='2' fill='#FFFFFF' stroke='#1E4FA8' strokeWidth='1.5' /&gt;&#10;          &lt;rect x='991' y='253' width='12' height='8' rx='2' fill='#FFFFFF' stroke='#1E4FA8' strokeWidth='1.5' /&gt;&#10;          &lt;text x='934' y='300' text-anchor='middle' font-size='16' font-weight='bold' fill='#1A2230'&gt;引用溯源&lt;/text&gt;&#10;          &lt;text x='934' y='322' text-anchor='middle' font-size='12' fill='#8B97A8'&gt;«component»&lt;/text&gt;&#10;          &lt;text x='934' y='344' text-anchor='middle' font-size='12' fill='#4A5568'&gt;页码定位&lt;/text&gt;&#10;&#10;          &lt;rect x='1055' y='265' width='165' height='95' rx='6' fill='#1E4FA8' /&gt;&#10;          &lt;rect x='1186' y='257' width='22' height='12' rx='2' fill='#1E4FA8' stroke='#FFFFFF' strokeWidth='1.5' /&gt;&#10;          &lt;rect x='1194' y='253' width='12' height='8' rx='2' fill='#1E4FA8' stroke='#FFFFFF' strokeWidth='1.5' /&gt;&#10;          &lt;text x='1137' y='300' text-anchor='middle' font-size='16' font-weight='bold' fill='#FFFFFF'&gt;Web 界面&lt;/text&gt;&#10;          &lt;text x='1137' y='322' text-anchor='middle' font-size='12' fill='#D6E4F7'&gt;«component»&lt;/text&gt;&#10;          &lt;text x='1137' y='344' text-anchor='middle' font-size='12' fill='#D6E4F7'&gt;Gradio&lt;/text&gt;&#10;        &lt;/g&gt;&#10;        {/* 在线依赖箭头（虚线开放箭头 = UML 依赖） */}&#10;        &lt;g stroke='#3D7BD9' stroke-width='2' fill='none' stroke-dasharray='6 4'&gt;&#10;          &lt;path d='M205 312 L235 312' /&gt;&#10;          &lt;path d='M408 312 L438 312' /&gt;&#10;          &lt;path d='M611 312 L641 312' /&gt;&#10;          &lt;path d='M814 312 L844 312' /&gt;&#10;          &lt;path d='M1017 312 L1047 312' /&gt;&#10;        &lt;/g&gt;&#10;        &lt;g stroke='#3D7BD9' stroke-width='2' fill='#3D7BD9'&gt;&#10;          &lt;path d='M235 312 l-8 -6 v12 z' /&gt;&#10;          &lt;path d='M438 312 l-8 -6 v12 z' /&gt;&#10;          &lt;path d='M641 312 l-8 -6 v12 z' /&gt;&#10;          &lt;path d='M844 312 l-8 -6 v12 z' /&gt;&#10;          &lt;path d='M1047 312 l-8 -6 v12 z' /&gt;&#10;        &lt;/g&gt;&#10;        {/* 接口名 */}&#10;        &lt;g font-size='11' fill='#3D7BD9'&gt;&#10;          &lt;text x='220' y='303'&gt;IQuery&lt;/text&gt;&#10;          &lt;text x='423' y='303'&gt;IRetrieve&lt;/text&gt;&#10;          &lt;text x='626' y='303'&gt;IRerank&lt;/text&gt;&#10;          &lt;text x='829' y='303'&gt;IGenerate&lt;/text&gt;&#10;          &lt;text x='1032' y='303'&gt;ICite&lt;/text&gt;&#10;        &lt;/g&gt;&#10;&#10;        {/* 依赖关系：在线检索依赖离线索引组件（虚线开放箭头） */}&#10;        &lt;path d='M240 360 C240 470 990 470 990 178' fill='none' stroke='#3D7BD9' stroke-width='2' stroke-dasharray='6 4' /&gt;&#10;        &lt;path d='M990 178 l-8 6 v-12 z' fill='#3D7BD9' stroke='#3D7BD9' stroke-width='2' /&gt;&#10;        &lt;text x='600' y='462' text-anchor='middle' font-size='12' fill='#3D7BD9'&gt;«use» IIndex&lt;/text&gt;&#10;&#10;        {/* 底部说明 */}&#10;        &lt;text x='40' y='512' font-size='14' fill='#8B97A8'&gt;虚线开放箭头表示组件间依赖；右上角图标与 «component» 为 UML 组件符号，接口以名称标注。&lt;/text&gt;&#10;      &lt;/svg&gt;&#10;    &lt;/Box&gt;&#10;&#10;    {/* 页脚 */}&#10;    &lt;Box style={{ height: 40, flexDirection: 'row', alignItems: 'center', justifyContent: 'space-between', paddingLeft: 40, paddingRight: 40 }}&gt;&#10;      &lt;Text style={{ color: '#8B97A8', fontSize: 14 }}&gt;中国科学技术大学软件学院&lt;/Text&gt;&#10;      &lt;Text style={{ color: '#1E4FA8', fontSize: 16, fontWeight: 'bold' }}&gt;09 / 17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5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2543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基于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RAG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的轻量级企业工艺生成系统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11277600" y="2667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技术方案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381000" y="895350"/>
            <a:ext cx="3028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系统组件图（</a:t>
            </a:r>
            <a:r>
              <a:rPr lang="en-US" sz="2550" b="1">
                <a:solidFill>
                  <a:srgbClr val="1A2230"/>
                </a:solidFill>
                <a:latin typeface="Microsoft YaHei"/>
                <a:ea typeface="Microsoft YaHei"/>
              </a:rPr>
              <a:t>UML</a:t>
            </a: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3562350" y="895350"/>
            <a:ext cx="22764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Component Diagram ·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概要设计</a:t>
            </a:r>
            <a:endParaRPr/>
          </a:p>
        </p:txBody>
      </p:sp>
      <p:pic>
        <p:nvPicPr>
          <p:cNvPr id="3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1428750"/>
            <a:ext cx="11239500" cy="4953000"/>
          </a:xfrm>
          <a:prstGeom prst="rect">
            <a:avLst/>
          </a:prstGeom>
          <a:ln/>
        </p:spPr>
      </p:pic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中国科学技术大学软件学院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11268075" y="65722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09 / 17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2543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基于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RAG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的轻量级企业工艺生成系统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1277600" y="2667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技术方案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381000" y="95250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381000" y="1143000"/>
            <a:ext cx="28575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离线建库链路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381000" y="1809750"/>
            <a:ext cx="2857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一次构建，为在线问答准备可检索的知识库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381000" y="4867275"/>
            <a:ext cx="2857500" cy="1457325"/>
          </a:xfrm>
          <a:prstGeom prst="roundRect">
            <a:avLst>
              <a:gd name="adj" fmla="val 5229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552450" y="5038725"/>
            <a:ext cx="2514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关键点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552450" y="5324475"/>
            <a:ext cx="25146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D6E4F7"/>
                </a:solidFill>
                <a:latin typeface="Microsoft YaHei"/>
                <a:ea typeface="Microsoft YaHei"/>
              </a:rPr>
              <a:t>表格保护：解析保留表格结构，分块保护完整表格，块记录来源文档、页码、章节元数据。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3619500" y="952500"/>
            <a:ext cx="8191500" cy="1009650"/>
          </a:xfrm>
          <a:prstGeom prst="roundRect">
            <a:avLst>
              <a:gd name="adj" fmla="val 943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3829050" y="12382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3990975" y="13430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4457700" y="1162050"/>
            <a:ext cx="7143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文档解析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4457700" y="1476375"/>
            <a:ext cx="71437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PyMuPDF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提取文字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页码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版面，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pdfplumber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抽取表格结构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3619500" y="2409825"/>
            <a:ext cx="8191500" cy="1009650"/>
          </a:xfrm>
          <a:prstGeom prst="roundRect">
            <a:avLst>
              <a:gd name="adj" fmla="val 943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3829050" y="2695575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3990975" y="28003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4457700" y="2619375"/>
            <a:ext cx="7143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文档分块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4457700" y="2933700"/>
            <a:ext cx="71437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递归字符分块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表格保护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相邻块重叠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3619500" y="3857625"/>
            <a:ext cx="8191500" cy="1009650"/>
          </a:xfrm>
          <a:prstGeom prst="roundRect">
            <a:avLst>
              <a:gd name="adj" fmla="val 943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3829050" y="4143375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3990975" y="42481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4457700" y="4067175"/>
            <a:ext cx="7143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向量化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4457700" y="4381500"/>
            <a:ext cx="71437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BGE-M3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嵌入模型生成稠密向量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3619500" y="5314950"/>
            <a:ext cx="8191500" cy="1009650"/>
          </a:xfrm>
          <a:prstGeom prst="roundRect">
            <a:avLst>
              <a:gd name="adj" fmla="val 943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3829050" y="56007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3990975" y="57054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4457700" y="5524500"/>
            <a:ext cx="7143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索引入库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4457700" y="5838825"/>
            <a:ext cx="71437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Chroma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写入稠密向量，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rank_bm25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构建稀疏索引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中国科学技术大学软件学院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1268075" y="65722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10 / 17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2543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基于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RAG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的轻量级企业工艺生成系统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1277600" y="2667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技术方案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381000" y="95250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381000" y="1143000"/>
            <a:ext cx="28575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在线问答链路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381000" y="1809750"/>
            <a:ext cx="2857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每次提问，从知识库检索并生成带引用的加工指令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381000" y="5143500"/>
            <a:ext cx="2857500" cy="1181100"/>
          </a:xfrm>
          <a:prstGeom prst="roundRect">
            <a:avLst>
              <a:gd name="adj" fmla="val 6452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52450" y="5314950"/>
            <a:ext cx="2514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关键点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552450" y="5600700"/>
            <a:ext cx="25146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D6E4F7"/>
                </a:solidFill>
                <a:latin typeface="Microsoft YaHei"/>
                <a:ea typeface="Microsoft YaHei"/>
              </a:rPr>
              <a:t>多轮查询改写：把含代词、省略的追问补全为独立问题，再走检索链路。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3619500" y="952500"/>
            <a:ext cx="8191500" cy="895350"/>
          </a:xfrm>
          <a:prstGeom prst="roundRect">
            <a:avLst>
              <a:gd name="adj" fmla="val 1063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3771900" y="11811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3933825" y="12858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4400550" y="1104900"/>
            <a:ext cx="7258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查询改写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4400550" y="1419225"/>
            <a:ext cx="72580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记录历史，将追问补全为独立问题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3619500" y="2076450"/>
            <a:ext cx="8191500" cy="895350"/>
          </a:xfrm>
          <a:prstGeom prst="roundRect">
            <a:avLst>
              <a:gd name="adj" fmla="val 1063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3771900" y="23050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3933825" y="24098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4400550" y="2228850"/>
            <a:ext cx="7258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混合召回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4400550" y="2543175"/>
            <a:ext cx="72580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并行执行向量检索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+ BM25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检索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3619500" y="3190875"/>
            <a:ext cx="8191500" cy="895350"/>
          </a:xfrm>
          <a:prstGeom prst="roundRect">
            <a:avLst>
              <a:gd name="adj" fmla="val 1063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3771900" y="3419475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3933825" y="35242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4400550" y="3343275"/>
            <a:ext cx="7258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RRF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融合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4400550" y="3657600"/>
            <a:ext cx="72580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k=60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合并两路结果并去重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3619500" y="4314825"/>
            <a:ext cx="8191500" cy="895350"/>
          </a:xfrm>
          <a:prstGeom prst="roundRect">
            <a:avLst>
              <a:gd name="adj" fmla="val 1063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3771900" y="4543425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3933825" y="46482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4400550" y="4467225"/>
            <a:ext cx="7258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重排序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4400550" y="4781550"/>
            <a:ext cx="72580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bge-reranker-v2-m3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精排，取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top 3~5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3619500" y="5429250"/>
            <a:ext cx="8191500" cy="895350"/>
          </a:xfrm>
          <a:prstGeom prst="roundRect">
            <a:avLst>
              <a:gd name="adj" fmla="val 1063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3771900" y="56578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3933825" y="57626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4400550" y="5581650"/>
            <a:ext cx="7258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生成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溯源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4400550" y="5895975"/>
            <a:ext cx="72580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拼装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Prompt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调用大模型，生成带引用的结构化指令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中国科学技术大学软件学院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1268075" y="65722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11 / 17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2543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基于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RAG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的轻量级企业工艺生成系统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1277600" y="2667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技术方案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381000" y="93345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两大关键技术特色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381000" y="1457325"/>
            <a:ext cx="6391275" cy="4829175"/>
          </a:xfrm>
          <a:prstGeom prst="roundRect">
            <a:avLst>
              <a:gd name="adj" fmla="val 2761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66750" y="17430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781050" y="18002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123950" y="1762125"/>
            <a:ext cx="33147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混合召回</a:t>
            </a: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重排序的两级检索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66750" y="2867025"/>
            <a:ext cx="5819775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>
                <a:solidFill>
                  <a:srgbClr val="D6E4F7"/>
                </a:solidFill>
                <a:latin typeface="Microsoft YaHei"/>
                <a:ea typeface="Microsoft YaHei"/>
              </a:rPr>
              <a:t>双路召回保证「不遗漏」：稠密向量负责语义理解，</a:t>
            </a:r>
            <a:r>
              <a:rPr lang="en-US" sz="1425">
                <a:solidFill>
                  <a:srgbClr val="D6E4F7"/>
                </a:solidFill>
                <a:latin typeface="Microsoft YaHei"/>
                <a:ea typeface="Microsoft YaHei"/>
              </a:rPr>
              <a:t xml:space="preserve">BM25 </a:t>
            </a:r>
            <a:r>
              <a:rPr lang="zh-CN" sz="1425">
                <a:solidFill>
                  <a:srgbClr val="D6E4F7"/>
                </a:solidFill>
                <a:latin typeface="Microsoft YaHei"/>
                <a:ea typeface="Microsoft YaHei"/>
              </a:rPr>
              <a:t>负责型号、数字等精确匹配；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66750" y="4305300"/>
            <a:ext cx="5819775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425">
                <a:solidFill>
                  <a:srgbClr val="D6E4F7"/>
                </a:solidFill>
                <a:latin typeface="Microsoft YaHei"/>
                <a:ea typeface="Microsoft YaHei"/>
              </a:rPr>
              <a:t xml:space="preserve">Cross-encoder </a:t>
            </a:r>
            <a:r>
              <a:rPr lang="zh-CN" sz="1425">
                <a:solidFill>
                  <a:srgbClr val="D6E4F7"/>
                </a:solidFill>
                <a:latin typeface="Microsoft YaHei"/>
                <a:ea typeface="Microsoft YaHei"/>
              </a:rPr>
              <a:t>精排保证「准确」：在有限候选中二次排序，兼顾检索质量与响应速度。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666750" y="58674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57250" y="5829300"/>
            <a:ext cx="2571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B3E8"/>
                </a:solidFill>
                <a:latin typeface="Microsoft YaHei"/>
                <a:ea typeface="Microsoft YaHei"/>
              </a:rPr>
              <a:t>针对数字、牌号对精确匹配要求高的痛点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7077075" y="1457325"/>
            <a:ext cx="4733925" cy="4829175"/>
          </a:xfrm>
          <a:prstGeom prst="roundRect">
            <a:avLst>
              <a:gd name="adj" fmla="val 2817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7362825" y="17430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477125" y="18002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7820025" y="1762125"/>
            <a:ext cx="23241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表格处理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可信生成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362825" y="2962275"/>
            <a:ext cx="4162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表格与参数处理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7362825" y="3228975"/>
            <a:ext cx="41624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解析保留表格结构，分块保护完整表格，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BM25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精确匹配型号数字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362825" y="4067175"/>
            <a:ext cx="4162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强约束可信生成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362825" y="4333875"/>
            <a:ext cx="41624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Prompt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约束「只依据资料作答、资料不足即声明」，参数与来源页码绑定，实现可核对、可追溯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7362825" y="58674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7553325" y="5829300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E4FA8"/>
                </a:solidFill>
                <a:latin typeface="Microsoft YaHei"/>
                <a:ea typeface="Microsoft YaHei"/>
              </a:rPr>
              <a:t>实现可核对、可追溯的加工指令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中国科学技术大学软件学院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1268075" y="65722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12 / 17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2543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基于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RAG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的轻量级企业工艺生成系统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1277600" y="2667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技术方案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381000" y="95250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381000" y="1143000"/>
            <a:ext cx="28575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技术选型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381000" y="1809750"/>
            <a:ext cx="2857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全部基于开源、轻量组件，普通设备即可运行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381000" y="5143500"/>
            <a:ext cx="2857500" cy="1181100"/>
          </a:xfrm>
          <a:prstGeom prst="roundRect">
            <a:avLst>
              <a:gd name="adj" fmla="val 6452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552450" y="5314950"/>
            <a:ext cx="2514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选型原则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552450" y="5600700"/>
            <a:ext cx="25146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D6E4F7"/>
                </a:solidFill>
                <a:latin typeface="Microsoft YaHei"/>
                <a:ea typeface="Microsoft YaHei"/>
              </a:rPr>
              <a:t>轻量、开源、零运维，契合「轻量级」定位，可平滑替换为企业内部知识库。</a:t>
            </a:r>
            <a:endParaRPr/>
          </a:p>
        </p:txBody>
      </p:sp>
      <p:graphicFrame>
        <p:nvGraphicFramePr>
          <p:cNvPr id="125" name=""/>
          <p:cNvGraphicFramePr/>
          <p:nvPr/>
        </p:nvGraphicFramePr>
        <p:xfrm rot="0" flipH="0" flipV="0">
          <a:off x="3619500" y="952500"/>
          <a:ext cx="8191500" cy="4191000"/>
        </p:xfrm>
        <a:graphic>
          <a:graphicData uri="http://schemas.openxmlformats.org/drawingml/2006/table">
            <a:tbl>
              <a:tblGrid>
                <a:gridCol w="2169417">
                  <a:extLst>
                    <a:ext uri="{9D8B030D-6E8A-4147-A177-3AD203B41FA5}">
                      <a16:colId val="1"/>
                    </a:ext>
                  </a:extLst>
                </a:gridCol>
                <a:gridCol w="6022083">
                  <a:extLst>
                    <a:ext uri="{9D8B030D-6E8A-4147-A177-3AD203B41FA5}">
                      <a16:colId val="2"/>
                    </a:ext>
                  </a:extLst>
                </a:gridCol>
              </a:tblGrid>
              <a:tr h="3810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模块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技术选型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810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编程语言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Python 3.10+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810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RAG 框架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LangChain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810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向量数据库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Chroma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810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稀疏检索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rank_bm25（BM25）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810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嵌入模型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BGE-M3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810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重排序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bge-reranker-v2-m3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3810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PDF 解析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PyMuPDF + pdfplumber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3810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大模型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开源大模型 API（OpenAI 兼容）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  <a:tr h="3810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界面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Gradio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0"/>
                  </a:ext>
                </a:extLst>
              </a:tr>
              <a:tr h="3810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版本管理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Git + GitHub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1"/>
                  </a:ext>
                </a:extLst>
              </a:tr>
            </a:tbl>
          </a:graphicData>
        </a:graphic>
      </p:graphicFrame>
      <p:sp>
        <p:nvSpPr>
          <p:cNvPr id="126" name=""/>
          <p:cNvSpPr/>
          <p:nvPr/>
        </p:nvSpPr>
        <p:spPr>
          <a:xfrm rot="0" flipH="0" flipV="0">
            <a:off x="3619500" y="5800725"/>
            <a:ext cx="8191500" cy="523875"/>
          </a:xfrm>
          <a:prstGeom prst="roundRect">
            <a:avLst>
              <a:gd name="adj" fmla="val 14545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3752850" y="60293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3943350" y="5934075"/>
            <a:ext cx="38957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嵌入与重排模型支持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或本地部署两种方式，可做对比实验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中国科学技术大学软件学院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1268075" y="65722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13 / 17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0" y="0"/>
            <a:ext cx="3429000" cy="68580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542925" y="2286000"/>
            <a:ext cx="23526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0E3F8C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4114800" y="638175"/>
            <a:ext cx="457200" cy="381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4114800" y="904875"/>
            <a:ext cx="75057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1A2230"/>
                </a:solidFill>
                <a:latin typeface="Microsoft YaHei"/>
                <a:ea typeface="Microsoft YaHei"/>
              </a:rPr>
              <a:t>开发方法与测试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4114800" y="1685925"/>
            <a:ext cx="7505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75">
                <a:solidFill>
                  <a:srgbClr val="8B97A8"/>
                </a:solidFill>
                <a:latin typeface="Microsoft YaHei"/>
                <a:ea typeface="Microsoft YaHei"/>
              </a:rPr>
              <a:t>模块化迭代开发</a:t>
            </a:r>
            <a:r>
              <a:rPr lang="en-US" sz="1500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spc="75">
                <a:solidFill>
                  <a:srgbClr val="8B97A8"/>
                </a:solidFill>
                <a:latin typeface="Microsoft YaHei"/>
                <a:ea typeface="Microsoft YaHei"/>
              </a:rPr>
              <a:t>四类测试方案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4114800" y="23907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4343400" y="2295525"/>
            <a:ext cx="6800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模块化、迭代式开发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343400" y="2590800"/>
            <a:ext cx="68008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按解析建库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检索重排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生成对话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溯源界面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测试评估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分阶段推进，先单测后集成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4114800" y="32289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343400" y="3133725"/>
            <a:ext cx="5572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功能测试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4343400" y="3429000"/>
            <a:ext cx="557212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验证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PDF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解析、表格抽取、混合检索、重排序、生成、溯源各模块正确性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4114800" y="40671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4343400" y="3971925"/>
            <a:ext cx="5657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多文档测试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人工评估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4343400" y="4267200"/>
            <a:ext cx="56578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构建典型工艺问题测试集，由评估人员对相关性、正确性、引用准确性打分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4114800" y="4905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4343400" y="4810125"/>
            <a:ext cx="57626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对比实验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4343400" y="5105400"/>
            <a:ext cx="576262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比较仅向量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向量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+BM25 /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混合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+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重排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的召回与生成效果，分析各模块贡献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4114800" y="5724525"/>
            <a:ext cx="7505700" cy="495300"/>
          </a:xfrm>
          <a:prstGeom prst="roundRect">
            <a:avLst>
              <a:gd name="adj" fmla="val 15385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4267200" y="59340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4457700" y="5876925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评估结果用于反哺优化解析、分块与检索策略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2543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基于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RAG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的轻量级企业工艺生成系统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1277600" y="2667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方法进度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381000" y="89535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进度安排（</a:t>
            </a:r>
            <a:r>
              <a:rPr lang="en-US" sz="2550" b="1">
                <a:solidFill>
                  <a:srgbClr val="1A2230"/>
                </a:solidFill>
                <a:latin typeface="Microsoft YaHei"/>
                <a:ea typeface="Microsoft YaHei"/>
              </a:rPr>
              <a:t>2026.10 — 2027.06</a:t>
            </a: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pic>
        <p:nvPicPr>
          <p:cNvPr id="1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1438275"/>
            <a:ext cx="11430000" cy="2381250"/>
          </a:xfrm>
          <a:prstGeom prst="rect">
            <a:avLst/>
          </a:prstGeom>
          <a:ln/>
        </p:spPr>
      </p:pic>
      <p:sp>
        <p:nvSpPr>
          <p:cNvPr id="160" name=""/>
          <p:cNvSpPr/>
          <p:nvPr/>
        </p:nvSpPr>
        <p:spPr>
          <a:xfrm rot="0" flipH="0" flipV="0">
            <a:off x="381000" y="3971925"/>
            <a:ext cx="11430000" cy="885825"/>
          </a:xfrm>
          <a:prstGeom prst="roundRect">
            <a:avLst>
              <a:gd name="adj" fmla="val 10753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552450" y="42100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704850" y="431482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123950" y="4143375"/>
            <a:ext cx="1051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七个阶段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阶段性成果可验收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123950" y="4410075"/>
            <a:ext cx="10515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当前已完成第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阶段（文献调研、需求分析、开题报告、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GitHub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仓库），即将进入第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阶段解析与离线建库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381000" y="4991100"/>
            <a:ext cx="3705225" cy="1485900"/>
          </a:xfrm>
          <a:prstGeom prst="roundRect">
            <a:avLst>
              <a:gd name="adj" fmla="val 641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71500" y="51816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阶段</a:t>
            </a: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1-2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1333500" y="5191125"/>
            <a:ext cx="752475" cy="190500"/>
          </a:xfrm>
          <a:prstGeom prst="roundRect">
            <a:avLst>
              <a:gd name="adj" fmla="val 20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1409700" y="5210175"/>
            <a:ext cx="600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E4FA8"/>
                </a:solidFill>
                <a:latin typeface="Microsoft YaHei"/>
                <a:ea typeface="Microsoft YaHei"/>
              </a:rPr>
              <a:t>开题</a:t>
            </a:r>
            <a:r>
              <a:rPr lang="en-US" sz="975">
                <a:solidFill>
                  <a:srgbClr val="1E4F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1E4FA8"/>
                </a:solidFill>
                <a:latin typeface="Microsoft YaHei"/>
                <a:ea typeface="Microsoft YaHei"/>
              </a:rPr>
              <a:t>建库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571500" y="5467350"/>
            <a:ext cx="33242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文献调研与需求分析、开题报告、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PDF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解析与知识库构建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4238625" y="4991100"/>
            <a:ext cx="3714750" cy="1485900"/>
          </a:xfrm>
          <a:prstGeom prst="roundRect">
            <a:avLst>
              <a:gd name="adj" fmla="val 641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4429125" y="51816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阶段</a:t>
            </a: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3-4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5191125" y="5191125"/>
            <a:ext cx="752475" cy="190500"/>
          </a:xfrm>
          <a:prstGeom prst="roundRect">
            <a:avLst>
              <a:gd name="adj" fmla="val 20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5267325" y="5210175"/>
            <a:ext cx="600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E4FA8"/>
                </a:solidFill>
                <a:latin typeface="Microsoft YaHei"/>
                <a:ea typeface="Microsoft YaHei"/>
              </a:rPr>
              <a:t>检索</a:t>
            </a:r>
            <a:r>
              <a:rPr lang="en-US" sz="975">
                <a:solidFill>
                  <a:srgbClr val="1E4F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1E4FA8"/>
                </a:solidFill>
                <a:latin typeface="Microsoft YaHei"/>
                <a:ea typeface="Microsoft YaHei"/>
              </a:rPr>
              <a:t>原型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4429125" y="5467350"/>
            <a:ext cx="33337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混合检索与重排序、生成与多轮对话、可运行问答原型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8105775" y="4991100"/>
            <a:ext cx="3705225" cy="1485900"/>
          </a:xfrm>
          <a:prstGeom prst="roundRect">
            <a:avLst>
              <a:gd name="adj" fmla="val 641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296275" y="51816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阶段</a:t>
            </a: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5-7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9058275" y="5191125"/>
            <a:ext cx="752475" cy="190500"/>
          </a:xfrm>
          <a:prstGeom prst="roundRect">
            <a:avLst>
              <a:gd name="adj" fmla="val 20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9134475" y="5210175"/>
            <a:ext cx="600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E4FA8"/>
                </a:solidFill>
                <a:latin typeface="Microsoft YaHei"/>
                <a:ea typeface="Microsoft YaHei"/>
              </a:rPr>
              <a:t>系统</a:t>
            </a:r>
            <a:r>
              <a:rPr lang="en-US" sz="975">
                <a:solidFill>
                  <a:srgbClr val="1E4F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1E4FA8"/>
                </a:solidFill>
                <a:latin typeface="Microsoft YaHei"/>
                <a:ea typeface="Microsoft YaHei"/>
              </a:rPr>
              <a:t>结题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8296275" y="5467350"/>
            <a:ext cx="332422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溯源与界面、多文档测试评估、结题报告与答辩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中国科学技术大学软件学院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1268075" y="65722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15 / 17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0" y="0"/>
            <a:ext cx="3429000" cy="68580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190625" y="1895475"/>
            <a:ext cx="1047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00">
                <a:solidFill>
                  <a:srgbClr val="8B97A8"/>
                </a:solidFill>
                <a:latin typeface="Microsoft YaHei"/>
                <a:ea typeface="Microsoft YaHei"/>
              </a:rPr>
              <a:t>CHAPTER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542925" y="2295525"/>
            <a:ext cx="23526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0E3F8C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019175" y="4772025"/>
            <a:ext cx="1390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8B97A8"/>
                </a:solidFill>
                <a:latin typeface="Microsoft YaHei"/>
                <a:ea typeface="Microsoft YaHei"/>
              </a:rPr>
              <a:t>预期成果</a:t>
            </a:r>
            <a:r>
              <a:rPr lang="en-US" sz="1200" spc="1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8B97A8"/>
                </a:solidFill>
                <a:latin typeface="Microsoft YaHei"/>
                <a:ea typeface="Microsoft YaHei"/>
              </a:rPr>
              <a:t>交付物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4114800" y="45720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4114800" y="628650"/>
            <a:ext cx="75057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1A2230"/>
                </a:solidFill>
                <a:latin typeface="Microsoft YaHei"/>
                <a:ea typeface="Microsoft YaHei"/>
              </a:rPr>
              <a:t>预期成果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4114800" y="1266825"/>
            <a:ext cx="7505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spc="75">
                <a:solidFill>
                  <a:srgbClr val="8B97A8"/>
                </a:solidFill>
                <a:latin typeface="Microsoft YaHei"/>
                <a:ea typeface="Microsoft YaHei"/>
              </a:rPr>
              <a:t>五项可验收成果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4114800" y="1609725"/>
            <a:ext cx="7505700" cy="752475"/>
          </a:xfrm>
          <a:prstGeom prst="roundRect">
            <a:avLst>
              <a:gd name="adj" fmla="val 1265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4238625" y="183832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4343400" y="18954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4676775" y="1733550"/>
            <a:ext cx="6819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可运行系统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676775" y="1981200"/>
            <a:ext cx="68199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覆盖解析、混合检索、重排、多轮对话、引用溯源，提供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Web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界面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4114800" y="2476500"/>
            <a:ext cx="7505700" cy="752475"/>
          </a:xfrm>
          <a:prstGeom prst="roundRect">
            <a:avLst>
              <a:gd name="adj" fmla="val 1265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4238625" y="27051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4343400" y="27622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4676775" y="2600325"/>
            <a:ext cx="6819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结构化加工指令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4676775" y="2847975"/>
            <a:ext cx="68199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参数忠实于资料、可定位原文页码，支持资料不足时的安全提示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4114800" y="3343275"/>
            <a:ext cx="7505700" cy="752475"/>
          </a:xfrm>
          <a:prstGeom prst="roundRect">
            <a:avLst>
              <a:gd name="adj" fmla="val 1265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4238625" y="35718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4343400" y="36290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4676775" y="3467100"/>
            <a:ext cx="6819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源码与工程文档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4676775" y="3714750"/>
            <a:ext cx="68199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代码托管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GitHub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，模块结构清晰、附使用说明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4114800" y="4210050"/>
            <a:ext cx="7505700" cy="752475"/>
          </a:xfrm>
          <a:prstGeom prst="roundRect">
            <a:avLst>
              <a:gd name="adj" fmla="val 1265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4238625" y="443865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4343400" y="44958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4676775" y="4333875"/>
            <a:ext cx="6819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评估报告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4676775" y="4581525"/>
            <a:ext cx="68199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多文档测试问题集、人工评估结果、检索策略对比实验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4114800" y="5076825"/>
            <a:ext cx="7505700" cy="752475"/>
          </a:xfrm>
          <a:prstGeom prst="roundRect">
            <a:avLst>
              <a:gd name="adj" fmla="val 1265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4238625" y="530542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4343400" y="53625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4676775" y="5200650"/>
            <a:ext cx="6819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结题与技术报告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4676775" y="5448300"/>
            <a:ext cx="68199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总结系统设计、关键技术与改进方向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4114800" y="5943600"/>
            <a:ext cx="7505700" cy="457200"/>
          </a:xfrm>
          <a:prstGeom prst="roundRect">
            <a:avLst>
              <a:gd name="adj" fmla="val 16667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4248150" y="61341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4438650" y="6076950"/>
            <a:ext cx="3505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覆盖选题五条要求的完整闭环，成果可演示、可验收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5724525" y="2266950"/>
            <a:ext cx="742950" cy="381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4800600" y="2609850"/>
            <a:ext cx="25908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 spc="300">
                <a:solidFill>
                  <a:srgbClr val="FFFFFF"/>
                </a:solidFill>
                <a:latin typeface="Microsoft YaHei"/>
                <a:ea typeface="Microsoft YaHei"/>
              </a:rPr>
              <a:t>感谢聆听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4857750" y="3648075"/>
            <a:ext cx="2476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150">
                <a:solidFill>
                  <a:srgbClr val="8FB3E8"/>
                </a:solidFill>
                <a:latin typeface="Microsoft YaHei"/>
                <a:ea typeface="Microsoft YaHei"/>
              </a:rPr>
              <a:t>恳请各位老师批评指正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4162425" y="4381500"/>
            <a:ext cx="23145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D6E4F7"/>
                </a:solidFill>
                <a:latin typeface="Microsoft YaHei"/>
                <a:ea typeface="Microsoft YaHei"/>
              </a:rPr>
              <a:t>熊佳昀</a:t>
            </a:r>
            <a:r>
              <a:rPr lang="en-US" sz="1350">
                <a:solidFill>
                  <a:srgbClr val="D6E4F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D6E4F7"/>
                </a:solidFill>
                <a:latin typeface="Microsoft YaHei"/>
                <a:ea typeface="Microsoft YaHei"/>
              </a:rPr>
              <a:t>齐梦伟</a:t>
            </a:r>
            <a:r>
              <a:rPr lang="en-US" sz="1350">
                <a:solidFill>
                  <a:srgbClr val="D6E4F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D6E4F7"/>
                </a:solidFill>
                <a:latin typeface="Microsoft YaHei"/>
                <a:ea typeface="Microsoft YaHei"/>
              </a:rPr>
              <a:t>张承伟</a:t>
            </a:r>
            <a:r>
              <a:rPr lang="en-US" sz="1350">
                <a:solidFill>
                  <a:srgbClr val="D6E4F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D6E4F7"/>
                </a:solidFill>
                <a:latin typeface="Microsoft YaHei"/>
                <a:ea typeface="Microsoft YaHei"/>
              </a:rPr>
              <a:t>资唯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6705600" y="4391025"/>
            <a:ext cx="9525" cy="1905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6943725" y="4381500"/>
            <a:ext cx="1085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D6E4F7"/>
                </a:solidFill>
                <a:latin typeface="Microsoft YaHei"/>
                <a:ea typeface="Microsoft YaHei"/>
              </a:rPr>
              <a:t>指导教师</a:t>
            </a:r>
            <a:r>
              <a:rPr lang="en-US" sz="1350">
                <a:solidFill>
                  <a:srgbClr val="D6E4F7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350">
                <a:solidFill>
                  <a:srgbClr val="D6E4F7"/>
                </a:solidFill>
                <a:latin typeface="Microsoft YaHei"/>
                <a:ea typeface="Microsoft YaHei"/>
              </a:rPr>
              <a:t>丁箐</a:t>
            </a:r>
            <a:endParaRPr/>
          </a:p>
        </p:txBody>
      </p:sp>
      <p:pic>
        <p:nvPicPr>
          <p:cNvPr id="227" name=""/>
          <p:cNvPicPr>
            <a:picLocks noChangeAspect="1"/>
          </p:cNvPicPr>
          <p:nvPr/>
        </p:nvPicPr>
        <p:blipFill>
          <a:blip>
            <a:alphaModFix amt="10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4457700" y="457200"/>
            <a:ext cx="3276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8FB3E8"/>
                </a:solidFill>
                <a:latin typeface="Microsoft YaHei"/>
                <a:ea typeface="Microsoft YaHei"/>
              </a:rPr>
              <a:t>中国科学技术大学软件学院</a:t>
            </a:r>
            <a:r>
              <a:rPr lang="en-US" sz="1200" spc="150">
                <a:solidFill>
                  <a:srgbClr val="8FB3E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8FB3E8"/>
                </a:solidFill>
                <a:latin typeface="Microsoft YaHei"/>
                <a:ea typeface="Microsoft YaHei"/>
              </a:rPr>
              <a:t>软件工程实践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5067300" y="6210300"/>
            <a:ext cx="2057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8FB3E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200" spc="150">
                <a:solidFill>
                  <a:srgbClr val="8FB3E8"/>
                </a:solidFill>
                <a:latin typeface="Microsoft YaHei"/>
                <a:ea typeface="Microsoft YaHei"/>
              </a:rPr>
              <a:t>年</a:t>
            </a:r>
            <a:r>
              <a:rPr lang="en-US" sz="1200" spc="150">
                <a:solidFill>
                  <a:srgbClr val="8FB3E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200" spc="150">
                <a:solidFill>
                  <a:srgbClr val="8FB3E8"/>
                </a:solidFill>
                <a:latin typeface="Microsoft YaHei"/>
                <a:ea typeface="Microsoft YaHei"/>
              </a:rPr>
              <a:t>月</a:t>
            </a:r>
            <a:r>
              <a:rPr lang="en-US" sz="1200" spc="150">
                <a:solidFill>
                  <a:srgbClr val="8FB3E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8FB3E8"/>
                </a:solidFill>
                <a:latin typeface="Microsoft YaHei"/>
                <a:ea typeface="Microsoft YaHei"/>
              </a:rPr>
              <a:t>开题答辩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2026-10-29T20:21:54Z</dcterms:created>
  <dcterms:modified xsi:type="dcterms:W3CDTF">2026-10-29T20:21:54Z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{"AIGC":{"Label":"1","ContentProducer":"00119111010856365494821B355","ProduceID":"01a186ab079072d9a1741d1b08dae5a8","ReservedCode1":"","ContentPropagator":"00119111010856365494821B355","PropagateID":"01a186ab079072d9a1741d1b08dae5a8","ReservedCode2":""}}</vt:lpwstr>
  </property>
</Properties>
</file>