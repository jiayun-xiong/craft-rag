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8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5" Type="http://schemas.openxmlformats.org/officeDocument/2006/relationships/slide" Target="slides/slide5.xml" /><Relationship Id="rId0" Type="http://schemas.openxmlformats.org/officeDocument/2006/relationships/slideMaster" Target="slideMasters/slideMaster1.xml" /><Relationship Id="rId4" Type="http://schemas.openxmlformats.org/officeDocument/2006/relationships/slide" Target="slides/slide4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3" Type="http://schemas.openxmlformats.org/officeDocument/2006/relationships/slide" Target="slides/slide13.xml" /><Relationship Id="rId11" Type="http://schemas.openxmlformats.org/officeDocument/2006/relationships/slide" Target="slides/slide11.xml" /><Relationship Id="rId20" Type="http://schemas.openxmlformats.org/officeDocument/2006/relationships/tableStyles" Target="tableStyles.xml" /><Relationship Id="rId15" Type="http://schemas.openxmlformats.org/officeDocument/2006/relationships/slide" Target="slides/slide15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16" Type="http://schemas.openxmlformats.org/officeDocument/2006/relationships/slide" Target="slides/slide16.xml" /><Relationship Id="rId6" Type="http://schemas.openxmlformats.org/officeDocument/2006/relationships/slide" Target="slides/slide6.xml" /><Relationship Id="rId17" Type="http://schemas.openxmlformats.org/officeDocument/2006/relationships/slide" Target="slides/slide17.xml" /><Relationship Id="rId18" Type="http://schemas.openxmlformats.org/officeDocument/2006/relationships/notesMaster" Target="notesMasters/notesMaster1.xml" /><Relationship Id="rId19" Type="http://schemas.openxmlformats.org/officeDocument/2006/relationships/presProps" Target="presProps.xml" /><Relationship Id="rId7" Type="http://schemas.openxmlformats.org/officeDocument/2006/relationships/slide" Target="slides/slide7.xml" /><Relationship Id="rId2" Type="http://schemas.openxmlformats.org/officeDocument/2006/relationships/slide" Target="slides/slide2.xml" /><Relationship Id="rId21" Type="http://schemas.openxmlformats.org/officeDocument/2006/relationships/viewProps" Target="viewProps.xml" /><Relationship Id="rId3" Type="http://schemas.openxmlformats.org/officeDocument/2006/relationships/slide" Target="slides/slide3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&gt;&#10;  &lt;Box style={{ width: '1280px', height: '720px', background: '#0E3F8C', position: 'relative', overflow: 'hidden' }}&gt;&#10;    {/* 背景装饰：科技节点线稿 */}&#10;    &lt;Box style={{ position: 'absolute', top: 0, right: 0, width: 700, height: 720, opacity: 0.12 }}&gt;&#10;      &lt;svg width={700} height={720} viewBox='0 0 700 720'&gt;&#10;        &lt;g stroke='#FFFFFF' strokeWidth='1.5' fill='none'&gt;&#10;          &lt;circle cx='120' cy='140' r='40' /&gt;&#10;          &lt;circle cx='320' cy='90' r='55' /&gt;&#10;          &lt;circle cx='540' cy='200' r='35' /&gt;&#10;          &lt;circle cx='180' cy='380' r='50' /&gt;&#10;          &lt;circle cx='430' cy='420' r='60' /&gt;&#10;          &lt;circle cx='580' cy='560' r='45' /&gt;&#10;          &lt;circle cx='260' cy='610' r='35' /&gt;&#10;          &lt;path d='M120 140 L320 90 L540 200 L430 420 L180 380 Z' /&gt;&#10;          &lt;path d='M320 90 L430 420 M540 200 L580 560 M430 420 L580 560 M180 380 L260 610 M120 140 L180 380' /&gt;&#10;        &lt;/g&gt;&#10;        &lt;g fill='#FFFFFF'&gt;&#10;          &lt;circle cx='120' cy='140' r='5' /&gt;&#10;          &lt;circle cx='320' cy='90' r='6' /&gt;&#10;          &lt;circle cx='540' cy='200' r='4' /&gt;&#10;          &lt;circle cx='180' cy='380' r='5' /&gt;&#10;          &lt;circle cx='430' cy='420' r='7' /&gt;&#10;          &lt;circle cx='580' cy='560' r='5' /&gt;&#10;          &lt;circle cx='260' cy='610' r='4' /&gt;&#10;        &lt;/g&gt;&#10;      &lt;/svg&gt;&#10;    &lt;/Box&gt;&#10;&#10;    {/* 顶部单位 */}&#10;    &lt;Box style={{ position: 'absolute', top: 48, left: 60, right: 60, flexDirection: 'row', justifyContent: 'space-between', alignItems: 'center' }}&gt;&#10;      &lt;Text style={{ color: '#8FB3E8', fontSize: 18, letterSpacing: 2 }}&gt;中国科学技术大学软件学院&lt;/Text&gt;&#10;      &lt;Text style={{ color: '#8FB3E8', fontSize: 16 }}&gt;软件工程实践 · 开题答辩&lt;/Text&gt;&#10;    &lt;/Box&gt;&#10;&#10;    {/* 中央主标题 */}&#10;    &lt;Box style={{ position: 'absolute', top: 0, left: 0, right: 0, bottom: 0, flexDirection: 'column', alignItems: 'center', justifyContent: 'center', paddingTop: 40 }}&gt;&#10;      &lt;Box style={{ width: 78, height: 4, background: '#3D7BD9', borderRadius: 2, marginBottom: 32 }} /&gt;&#10;      &lt;Text style={{ color: '#FFFFFF', fontSize: 56, fontWeight: 'bold', textAlign: 'center', letterSpacing: 2 }}&gt;&#10;        基于 RAG 的轻量级&#10;      &lt;/Text&gt;&#10;      &lt;Text style={{ color: '#FFFFFF', fontSize: 56, fontWeight: 'bold', textAlign: 'center', letterSpacing: 2, marginTop: 8 }}&gt;&#10;        企业工艺生成系统&#10;      &lt;/Text&gt;&#10;      &lt;Text style={{ color: '#8FB3E8', fontSize: 22, textAlign: 'center', marginTop: 28, letterSpacing: 1 }}&gt;&#10;        A Lightweight Enterprise Manufacturing Process Generation System Based on RAG&#10;      &lt;/Text&gt;&#10;    &lt;/Box&gt;&#10;&#10;    {/* 底部信息条 */}&#10;    &lt;Box style={{ position: 'absolute', bottom: 0, left: 0, right: 0, height: 120, background: 'rgba(0,0,0,0.18)', flexDirection: 'row', alignItems: 'center', paddingLeft: 60, paddingRight: 60 }}&gt;&#10;      &lt;Box style={{ flexDirection: 'row', alignItems: 'center', gap: 40, flex: 1 }}&gt;&#10;        &lt;Box style={{ flexDirection: 'column', gap: 6 }}&gt;&#10;          &lt;Text style={{ color: '#8FB3E8', fontSize: 14 }}&gt;团队成员&lt;/Text&gt;&#10;          &lt;Text style={{ color: '#FFFFFF', fontSize: 20, fontWeight: 'bold' }}&gt;熊佳昀 · 齐梦伟 · 张承伟 · 资唯&lt;/Text&gt;&#10;        &lt;/Box&gt;&#10;        &lt;Box style={{ width: 1, height: 44, background: 'rgba(255,255,255,0.3)' }} /&gt;&#10;        &lt;Box style={{ flexDirection: 'column', gap: 6 }}&gt;&#10;          &lt;Text style={{ color: '#8FB3E8', fontSize: 14 }}&gt;指导教师&lt;/Text&gt;&#10;          &lt;Text style={{ color: '#FFFFFF', fontSize: 20, fontWeight: 'bold' }}&gt;丁箐&lt;/Text&gt;&#10;        &lt;/Box&gt;&#10;      &lt;/Box&gt;&#10;      &lt;Text style={{ color: '#8FB3E8', fontSize: 18 }}&gt;2026 年 10 月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alphaModFix amt="12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0" y="0"/>
            <a:ext cx="6667500" cy="6858000"/>
          </a:xfrm>
          <a:prstGeom prst="rect">
            <a:avLst/>
          </a:prstGeom>
          <a:ln/>
        </p:spPr>
      </p:pic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571500" y="457200"/>
            <a:ext cx="2286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150">
                <a:solidFill>
                  <a:srgbClr val="8FB3E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9963150" y="466725"/>
            <a:ext cx="165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FB3E8"/>
                </a:solidFill>
                <a:latin typeface="Microsoft YaHei"/>
                <a:ea typeface="Microsoft YaHei"/>
              </a:rPr>
              <a:t>软件工程实践</a:t>
            </a:r>
            <a:r>
              <a:rPr lang="en-US" sz="1200">
                <a:solidFill>
                  <a:srgbClr val="8FB3E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FB3E8"/>
                </a:solidFill>
                <a:latin typeface="Microsoft YaHei"/>
                <a:ea typeface="Microsoft YaHei"/>
              </a:rPr>
              <a:t>开题答辩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5724525" y="2505075"/>
            <a:ext cx="74295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3638550" y="2847975"/>
            <a:ext cx="4914900" cy="6477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4200" b="1" spc="15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4200" b="1" spc="15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4200" b="1" spc="150">
                <a:solidFill>
                  <a:srgbClr val="FFFFFF"/>
                </a:solidFill>
                <a:latin typeface="Microsoft YaHei"/>
                <a:ea typeface="Microsoft YaHei"/>
              </a:rPr>
              <a:t>的轻量级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3886200" y="3571875"/>
            <a:ext cx="4419600" cy="6477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4200" b="1" spc="150">
                <a:solidFill>
                  <a:srgbClr val="FFFFFF"/>
                </a:solidFill>
                <a:latin typeface="Microsoft YaHei"/>
                <a:ea typeface="Microsoft YaHei"/>
              </a:rPr>
              <a:t>企业工艺生成系统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1590675" y="4486275"/>
            <a:ext cx="90106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650" spc="75">
                <a:solidFill>
                  <a:srgbClr val="8FB3E8"/>
                </a:solidFill>
                <a:latin typeface="Microsoft YaHei"/>
                <a:ea typeface="Microsoft YaHei"/>
              </a:rPr>
              <a:t>A Lightweight Enterprise Manufacturing Process Generation System Based on RAG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5715000"/>
            <a:ext cx="12192000" cy="1143000"/>
          </a:xfrm>
          <a:prstGeom prst="rect">
            <a:avLst/>
          </a:prstGeom>
          <a:solidFill>
            <a:srgbClr val="000000">
              <a:alpha val="18000"/>
            </a:srgbClr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571500" y="6067425"/>
            <a:ext cx="2695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B3E8"/>
                </a:solidFill>
                <a:latin typeface="Microsoft YaHei"/>
                <a:ea typeface="Microsoft YaHei"/>
              </a:rPr>
              <a:t>团队成员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571500" y="6286500"/>
            <a:ext cx="2695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熊佳昀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齐梦伟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张承伟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资唯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3648075" y="6086475"/>
            <a:ext cx="9525" cy="419100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038600" y="60674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B3E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4038600" y="6286500"/>
            <a:ext cx="533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丁箐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10515600" y="6181725"/>
            <a:ext cx="1104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8FB3E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350">
                <a:solidFill>
                  <a:srgbClr val="8FB3E8"/>
                </a:solidFill>
                <a:latin typeface="Microsoft YaHei"/>
                <a:ea typeface="Microsoft YaHei"/>
              </a:rPr>
              <a:t>年</a:t>
            </a:r>
            <a:r>
              <a:rPr lang="en-US" sz="1350">
                <a:solidFill>
                  <a:srgbClr val="8FB3E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350">
                <a:solidFill>
                  <a:srgbClr val="8FB3E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30" name="" descr="&lt;Slide&gt;&#10;  &lt;Box style={{ width: '1280px', height: '720px', background: '#F7F9FC', flexDirection: 'row' }}&gt;&#10;    {/* 左侧深蓝栏 */}&#10;    &lt;Box style={{ width: 320, height: 720, background: '#0E3F8C', flexDirection: 'column', justifyContent: 'center', paddingLeft: 48, paddingRight: 48 }}&gt;&#10;      &lt;Box style={{ width: 48, height: 4, background: '#3D7BD9', borderRadius: 2, marginBottom: 28 }} /&gt;&#10;      &lt;Text style={{ color: '#FFFFFF', fontSize: 48, fontWeight: 'bold', letterSpacing: 4 }}&gt;目录&lt;/Text&gt;&#10;      &lt;Text style={{ color: '#8FB3E8', fontSize: 20, marginTop: 16, letterSpacing: 2 }}&gt;CONTENTS&lt;/Text&gt;&#10;    &lt;/Box&gt;&#10;&#10;    {/* 右侧目录条目 */}&#10;    &lt;Box style={{ flex: 1, flexDirection: 'column', justifyContent: 'center', paddingLeft: 72, paddingRight: 60, gap: 28 }}&gt;&#10;      {[&#10;        { n: '01', t: '选题背景与意义', d: '工艺知识痛点 · 通用大模型的局限' },&#10;        { n: '02', t: '项目目标与需求', d: '双链路定位 · 五大功能需求' },&#10;        { n: '03', t: '技术方案与选型', d: '总体架构 · 关键技术 · 组件选型' },&#10;        { n: '04', t: '开发方法与进度', d: '迭代开发 · 测试方案 · 7 阶段安排' },&#10;        { n: '05', t: '预期成果', d: '系统 · 指令 · 文档 · 评估报告' },&#10;      ].map((item) =&gt; (&#10;        &lt;Box key={item.n} style={{ flexDirection: 'row', alignItems: 'center', gap: 28, paddingBottom: 22, borderBottom: '1px solid #E5E7EB' }}&gt;&#10;          &lt;Box style={{ width: 60, height: 60, background: '#1E4FA8', borderRadius: 8, alignItems: 'center', justifyContent: 'center' }}&gt;&#10;            &lt;Text style={{ color: '#FFFFFF', fontSize: 24, fontWeight: 'bold' }}&gt;{item.n}&lt;/Text&gt;&#10;          &lt;/Box&gt;&#10;          &lt;Box style={{ flexDirection: 'column', gap: 4 }}&gt;&#10;            &lt;Text style={{ color: '#1A2230', fontSize: 28, fontWeight: 'bold' }}&gt;{item.t}&lt;/Text&gt;&#10;            &lt;Text style={{ color: '#8B97A8', fontSize: 16 }}&gt;{item.d}&lt;/Text&gt;&#10;          &lt;/Box&gt;&#10;        &lt;/Box&gt;&#10;      ))}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3" name=""/>
          <p:cNvSpPr/>
          <p:nvPr/>
        </p:nvSpPr>
        <p:spPr>
          <a:xfrm rot="0" flipH="0" flipV="0">
            <a:off x="457200" y="2809875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457200" y="3114675"/>
            <a:ext cx="21336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 spc="300">
                <a:solidFill>
                  <a:srgbClr val="FFFFFF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457200" y="3819525"/>
            <a:ext cx="2133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150">
                <a:solidFill>
                  <a:srgbClr val="8FB3E8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3733800" y="923925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37" name=""/>
          <p:cNvSpPr/>
          <p:nvPr/>
        </p:nvSpPr>
        <p:spPr>
          <a:xfrm rot="0" flipH="0" flipV="0">
            <a:off x="3733800" y="923925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3876675" y="1076325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4572000" y="933450"/>
            <a:ext cx="22669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选题背景与意义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572000" y="1295400"/>
            <a:ext cx="2266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工艺知识痛点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通用大模型的局限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3733800" y="1981200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42" name=""/>
          <p:cNvSpPr/>
          <p:nvPr/>
        </p:nvSpPr>
        <p:spPr>
          <a:xfrm rot="0" flipH="0" flipV="0">
            <a:off x="3733800" y="1981200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3876675" y="2133600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4572000" y="199072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项目目标与需求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572000" y="2352675"/>
            <a:ext cx="1866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双链路定位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五大功能需求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3733800" y="3038475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47" name=""/>
          <p:cNvSpPr/>
          <p:nvPr/>
        </p:nvSpPr>
        <p:spPr>
          <a:xfrm rot="0" flipH="0" flipV="0">
            <a:off x="3733800" y="3038475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3876675" y="3190875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4572000" y="3048000"/>
            <a:ext cx="20859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技术方案与选型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572000" y="3409950"/>
            <a:ext cx="20859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总体架构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关键技术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组件选型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3733800" y="4095750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52" name=""/>
          <p:cNvSpPr/>
          <p:nvPr/>
        </p:nvSpPr>
        <p:spPr>
          <a:xfrm rot="0" flipH="0" flipV="0">
            <a:off x="3733800" y="4095750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3876675" y="4248150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4572000" y="4105275"/>
            <a:ext cx="22193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开发方法与进度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4572000" y="4467225"/>
            <a:ext cx="2219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迭代开发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测试方案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7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阶段安排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3733800" y="5153025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3733800" y="5153025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876675" y="5305425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4572000" y="5162550"/>
            <a:ext cx="1905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4572000" y="5524500"/>
            <a:ext cx="1905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系统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指令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文档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评估报告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61" name="" descr="&lt;Slide&gt;&#10;  &lt;Box style={{ width: '1280px', height: '720px', background: '#FFFFFF', flexDirection: 'row', alignItems: 'center' }}&gt;&#10;    {/* 左侧大数字 */}&#10;    &lt;Box style={{ width: 360, height: 720, background: '#F0F5FC', alignItems: 'center', justifyContent: 'center' }}&gt;&#10;      &lt;Text style={{ color: '#0E3F8C', fontSize: 200, fontWeight: 'bold', lineHeight: 1 }}&gt;01&lt;/Text&gt;&#10;    &lt;/Box&gt;&#10;&#10;    {/* 右侧标题与要点 */}&#10;    &lt;Box style={{ flex: 1, flexDirection: 'column', paddingLeft: 72, paddingRight: 60, gap: 28 }}&gt;&#10;      &lt;Box style={{ width: 48, height: 4, background: '#3D7BD9', borderRadius: 2 }} /&gt;&#10;      &lt;Text style={{ color: '#1A2230', fontSize: 48, fontWeight: 'bold' }}&gt;选题背景与意义&lt;/Text&gt;&#10;      &lt;Text style={{ color: '#8B97A8', fontSize: 20, letterSpacing: 1 }}&gt;研究意义 · 国内外现状 · 选题价值&lt;/Text&gt;&#10;&#10;      &lt;Box style={{ flexDirection: 'column', gap: 18, marginTop: 12 }}&gt;&#10;        {[&#10;          '机械加工工艺知识高度依赖人工经验，手册检索效率低',&#10;          '工艺知识传承困难，标准更新不及时',&#10;          '通用大模型直接生成参数存在幻觉与不可追溯问题',&#10;        ].map((item, idx) =&gt; (&#10;          &lt;Box key={idx} style={{ flexDirection: 'row', alignItems: 'flex-start', gap: 16 }}&gt;&#10;            &lt;Box style={{ width: 8, height: 8, background: '#1E4FA8', borderRadius: 4, marginTop: 10 }} /&gt;&#10;            &lt;Text style={{ color: '#4A5568', fontSize: 22, lineHeight: 1.5 }}&gt;{item}&lt;/Text&gt;&#10;          &lt;/Box&gt;&#10;        ))}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3" name=""/>
          <p:cNvSpPr/>
          <p:nvPr/>
        </p:nvSpPr>
        <p:spPr>
          <a:xfrm rot="0" flipH="0" flipV="0">
            <a:off x="0" y="0"/>
            <a:ext cx="3429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542925" y="2286000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0E3F8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4114800" y="1819275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4114800" y="2124075"/>
            <a:ext cx="75057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>
                <a:solidFill>
                  <a:srgbClr val="1A2230"/>
                </a:solidFill>
                <a:latin typeface="Microsoft YaHei"/>
                <a:ea typeface="Microsoft YaHei"/>
              </a:rPr>
              <a:t>选题背景与意义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4114800" y="2943225"/>
            <a:ext cx="7505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研究意义</a:t>
            </a:r>
            <a:r>
              <a:rPr lang="en-US" sz="1500" spc="7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国内外现状</a:t>
            </a:r>
            <a:r>
              <a:rPr lang="en-US" sz="1500" spc="7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选题价值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4114800" y="3648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4343400" y="3552825"/>
            <a:ext cx="50292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机械加工工艺知识高度依赖人工经验，手册检索效率低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4114800" y="42005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4343400" y="4105275"/>
            <a:ext cx="33528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工艺知识传承困难，标准更新不及时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4114800" y="47529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4343400" y="4657725"/>
            <a:ext cx="46101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通用大模型直接生成参数存在幻觉与不可追溯问题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74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选题背景&lt;/Text&gt;&#10;    &lt;/Box&gt;&#10;&#10;    {/* 主标题 */}&#10;    &lt;Box style={{ paddingLeft: 40, paddingRight: 40, paddingTop: 28, paddingBottom: 12 }}&gt;&#10;      &lt;Text style={{ color: '#1A2230', fontSize: 34, fontWeight: 'bold' }}&gt;通用大模型直接生成工艺参数的三大痛点&lt;/Text&gt;&#10;    &lt;/Box&gt;&#10;&#10;    {/* 非对称双栏：左 55% 痛点，右 40% 解法 */}&#10;    &lt;Box style={{ flex: 1, flexDirection: 'row', paddingLeft: 40, paddingRight: 40, gap: 36, paddingBottom: 20 }}&gt;&#10;      {/* 左：三大痛点 */}&#10;      &lt;Box style={{ flex: 1.4, flexDirection: 'column', gap: 20 }}&gt;&#10;        {[&#10;          { n: '01', t: '知识覆盖不全', d: '训练数据缺乏企业/行业内部的专业工艺资料，关键参数缺失' },&#10;          { n: '02', t: '幻觉 · 安全风险', d: '模型&quot;一本正经地编造&quot;切削参数，错误参数可能致刀具崩损、零件报废' },&#10;          { n: '03', t: '不可追溯', d: '生成结果无来源依据，无法核对，难以满足工程可验证、可担责要求' },&#10;        ].map((item) =&gt; (&#10;          &lt;Box key={item.n} style={{ flexDirection: 'row', gap: 20, padding: 22, background: '#F7F9FC', borderRadius: 10, border: '1px solid #E5E7EB', alignItems: 'flex-start' }}&gt;&#10;            &lt;Box style={{ width: 46, height: 46, background: '#1E4FA8', borderRadius: 8, alignItems: 'center', justifyContent: 'center' }}&gt;&#10;              &lt;Text style={{ color: '#FFFFFF', fontSize: 20, fontWeight: 'bold' }}&gt;{item.n}&lt;/Text&gt;&#10;            &lt;/Box&gt;&#10;            &lt;Box style={{ flex: 1, flexDirection: 'column', gap: 6 }}&gt;&#10;              &lt;Text style={{ color: '#1A2230', fontSize: 24, fontWeight: 'bold' }}&gt;{item.t}&lt;/Text&gt;&#10;              &lt;Text style={{ color: '#4A5568', fontSize: 18, lineHeight: 1.5 }}&gt;{item.d}&lt;/Text&gt;&#10;            &lt;/Box&gt;&#10;          &lt;/Box&gt;&#10;        ))}&#10;      &lt;/Box&gt;&#10;&#10;      {/* 右：RAG 解法 */}&#10;      &lt;Box style={{ flex: 1, flexDirection: 'column', justifyContent: 'center', padding: 28, background: '#0E3F8C', borderRadius: 12 }}&gt;&#10;        &lt;Text style={{ color: '#8FB3E8', fontSize: 16, letterSpacing: 2 }}&gt;我们的方案&lt;/Text&gt;&#10;        &lt;Text style={{ color: '#FFFFFF', fontSize: 30, fontWeight: 'bold', marginTop: 12, lineHeight: 1.4 }}&gt;&#10;          检索增强生成（RAG）&#10;        &lt;/Text&gt;&#10;        &lt;Text style={{ color: '#D6E4F7', fontSize: 20, lineHeight: 1.6, marginTop: 16 }}&gt;&#10;          先检索、后生成，让模型基于权威工艺资料作答，从源头缓解幻觉与不可追溯问题。&#10;        &lt;/Text&gt;&#10;        &lt;Box style={{ flexDirection: 'row', alignItems: 'center', gap: 12, marginTop: 24 }}&gt;&#10;          &lt;Box style={{ flex: 1, height: 4, background: '#3D7BD9', borderRadius: 2 }} /&gt;&#10;          &lt;Text style={{ color: '#8FB3E8', fontSize: 14 }}&gt;对症下药&lt;/Text&gt;&#10;        &lt;/Box&gt;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04 / 17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选题背景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381000" y="9525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通用大模型直接生成工艺参数的三大痛点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381000" y="1457325"/>
            <a:ext cx="646747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1" name=""/>
          <p:cNvSpPr/>
          <p:nvPr/>
        </p:nvSpPr>
        <p:spPr>
          <a:xfrm rot="0" flipH="0" flipV="0">
            <a:off x="590550" y="166687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695325" y="1771650"/>
            <a:ext cx="238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1219200" y="1666875"/>
            <a:ext cx="54197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知识覆盖不全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1219200" y="2000250"/>
            <a:ext cx="54197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训练数据缺乏企业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行业内部的专业工艺资料，关键参数缺失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381000" y="2714625"/>
            <a:ext cx="646747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6" name=""/>
          <p:cNvSpPr/>
          <p:nvPr/>
        </p:nvSpPr>
        <p:spPr>
          <a:xfrm rot="0" flipH="0" flipV="0">
            <a:off x="590550" y="292417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695325" y="3028950"/>
            <a:ext cx="238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219200" y="2924175"/>
            <a:ext cx="54197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幻觉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安全风险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1219200" y="3257550"/>
            <a:ext cx="54197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模型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一本正经地编造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切削参数，错误参数可能致刀具崩损、零件报废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381000" y="3971925"/>
            <a:ext cx="646747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1" name=""/>
          <p:cNvSpPr/>
          <p:nvPr/>
        </p:nvSpPr>
        <p:spPr>
          <a:xfrm rot="0" flipH="0" flipV="0">
            <a:off x="590550" y="418147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95325" y="4286250"/>
            <a:ext cx="238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219200" y="4181475"/>
            <a:ext cx="54197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不可追溯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1219200" y="4514850"/>
            <a:ext cx="54197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生成结果无来源依据，无法核对，难以满足工程可验证、可担责要求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7191375" y="1457325"/>
            <a:ext cx="4619625" cy="4829175"/>
          </a:xfrm>
          <a:prstGeom prst="roundRect">
            <a:avLst>
              <a:gd name="adj" fmla="val 247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458075" y="2838450"/>
            <a:ext cx="4086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我们的方案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7458075" y="3143250"/>
            <a:ext cx="4086225" cy="4857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检索增强生成（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RAG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7458075" y="3781425"/>
            <a:ext cx="4086225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D6E4F7"/>
                </a:solidFill>
                <a:latin typeface="Microsoft YaHei"/>
                <a:ea typeface="Microsoft YaHei"/>
              </a:rPr>
              <a:t>先检索、后生成，让模型基于权威工艺资料作答，从源头缓解幻觉与不可追溯问题。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7458075" y="4810125"/>
            <a:ext cx="3438525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1010900" y="47434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B3E8"/>
                </a:solidFill>
                <a:latin typeface="Microsoft YaHei"/>
                <a:ea typeface="Microsoft YaHei"/>
              </a:rPr>
              <a:t>对症下药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04 / 17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303" name="" descr="&lt;Slide&gt;&#10;  &lt;Box style={{ width: '1280px', height: '720px', background: '#FFFFFF', flexDirection: 'row', alignItems: 'center' }}&gt;&#10;    {/* 左侧大数字 */}&#10;    &lt;Box style={{ width: 360, height: 720, background: '#F0F5FC', alignItems: 'center', justifyContent: 'center' }}&gt;&#10;      &lt;Text style={{ color: '#0E3F8C', fontSize: 200, fontWeight: 'bold', lineHeight: 1 }}&gt;02&lt;/Text&gt;&#10;    &lt;/Box&gt;&#10;&#10;    {/* 右侧标题与要点 */}&#10;    &lt;Box style={{ flex: 1, flexDirection: 'column', paddingLeft: 72, paddingRight: 60, gap: 28 }}&gt;&#10;      &lt;Box style={{ width: 48, height: 4, background: '#3D7BD9', borderRadius: 2 }} /&gt;&#10;      &lt;Text style={{ color: '#1A2230', fontSize: 48, fontWeight: 'bold' }}&gt;项目目标与需求&lt;/Text&gt;&#10;      &lt;Text style={{ color: '#8B97A8', fontSize: 20, letterSpacing: 1 }}&gt;双链路定位 · 五大功能需求&lt;/Text&gt;&#10;&#10;      &lt;Box style={{ padding: 24, background: '#F7F9FC', borderRadius: 10, border: '1px solid #E5E7EB', marginTop: 12 }}&gt;&#10;        &lt;Text style={{ color: '#1A2230', fontSize: 24, lineHeight: 1.6, fontWeight: 'bold' }}&gt;&#10;          构建「离线建库 + 在线问答」的轻量级工艺生成系统&#10;        &lt;/Text&gt;&#10;        &lt;Text style={{ color: '#4A5568', fontSize: 20, lineHeight: 1.6, marginTop: 10 }}&gt;&#10;          把工艺手册中的参数转化为可检索、可溯源的知识，自动生成带引用、可核对的加工指令。&#10;        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5" name=""/>
          <p:cNvSpPr/>
          <p:nvPr/>
        </p:nvSpPr>
        <p:spPr>
          <a:xfrm rot="0" flipH="0" flipV="0">
            <a:off x="0" y="0"/>
            <a:ext cx="3429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542925" y="2286000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0E3F8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4114800" y="169545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4114800" y="2000250"/>
            <a:ext cx="75057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>
                <a:solidFill>
                  <a:srgbClr val="1A2230"/>
                </a:solidFill>
                <a:latin typeface="Microsoft YaHei"/>
                <a:ea typeface="Microsoft YaHei"/>
              </a:rPr>
              <a:t>项目目标与需求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114800" y="2819400"/>
            <a:ext cx="7505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双链路定位</a:t>
            </a:r>
            <a:r>
              <a:rPr lang="en-US" sz="1500" spc="7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五大功能需求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4114800" y="3429000"/>
            <a:ext cx="7505700" cy="1733550"/>
          </a:xfrm>
          <a:prstGeom prst="roundRect">
            <a:avLst>
              <a:gd name="adj" fmla="val 549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4343400" y="3657600"/>
            <a:ext cx="7048500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构建「离线建库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在线问答」的轻量级工艺生成系统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4343400" y="4200525"/>
            <a:ext cx="7048500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把工艺手册中的参数转化为可检索、可溯源的知识，自动生成带引用、可核对的加工指令。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313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项目目标&lt;/Text&gt;&#10;    &lt;/Box&gt;&#10;&#10;    {/* 左标题栏 + 右内容 */}&#10;    &lt;Box style={{ flex: 1, flexDirection: 'row', paddingLeft: 40, paddingRight: 40, paddingTop: 28, paddingBottom: 16, gap: 40 }}&gt;&#10;      {/* 左标题栏 */}&#10;      &lt;Box style={{ width: 300, flexDirection: 'column', gap: 16, justifyContent: 'space-between' }}&gt;&#10;        &lt;Box style={{ flexDirection: 'column', gap: 16 }}&gt;&#10;          &lt;Box style={{ width: 48, height: 4, background: '#3D7BD9', borderRadius: 2 }} /&gt;&#10;          &lt;Text style={{ color: '#1A2230', fontSize: 34, fontWeight: 'bold', lineHeight: 1.3 }}&gt;五大功能需求&lt;/Text&gt;&#10;          &lt;Text style={{ color: '#8B97A8', fontSize: 16, lineHeight: 1.5 }}&gt;对应选题五条硬性要求，一条不落&lt;/Text&gt;&#10;          &lt;Box style={{ padding: 18, background: '#F0F5FC', borderRadius: 8, marginTop: 8 }}&gt;&#10;            &lt;Text style={{ color: '#1E4FA8', fontSize: 18, fontWeight: 'bold' }}&gt;覆盖完整 RAG 链路&lt;/Text&gt;&#10;            &lt;Text style={{ color: '#4A5568', fontSize: 15, lineHeight: 1.5, marginTop: 6 }}&gt;解析 → 检索 → 重排 → 生成 → 溯源 → 评估&lt;/Text&gt;&#10;          &lt;/Box&gt;&#10;        &lt;/Box&gt;&#10;        {/* 补充：核心价值小结，填满左侧下方 */}&#10;        &lt;Box style={{ padding: 18, background: '#0E3F8C', borderRadius: 8 }}&gt;&#10;          &lt;Text style={{ color: '#FFFFFF', fontSize: 18, fontWeight: 'bold' }}&gt;核心目标&lt;/Text&gt;&#10;          &lt;Text style={{ color: '#D6E4F7', fontSize: 15, lineHeight: 1.6, marginTop: 8 }}&gt;&#10;            生成的参数真实可用、可核对、可追溯，而非仅供演示的玩具 Demo。&#10;          &lt;/Text&gt;&#10;        &lt;/Box&gt;&#10;      &lt;/Box&gt;&#10;&#10;      {/* 右：五项功能卡片（纵向列表） */}&#10;      &lt;Box style={{ flex: 1, flexDirection: 'column', gap: 14 }}&gt;&#10;        {[&#10;          { n: '①', t: '文档格式解析', d: '解析工艺 PDF 的文字、表格、页码与版面结构' },&#10;          { n: '②', t: '稠密 + 稀疏混合召回', d: 'BGE-M3 稠密向量检索 + BM25 关键词检索，RRF 融合' },&#10;          { n: '③', t: '重排序模块', d: 'Cross-encoder（bge-reranker）二次精排，提升检索精度' },&#10;          { n: '④', t: '多轮对话 + 引用溯源', d: '上下文追问、查询改写；每条参数标注来源页码' },&#10;          { n: '⑤', t: '多文档测试（人工评估）', d: '多份文档构建测试集，人工评估准确率' },&#10;        ].map((item) =&gt; (&#10;          &lt;Box key={item.n} style={{ flexDirection: 'row', alignItems: 'center', gap: 20, padding: 16, background: '#F7F9FC', borderRadius: 10, border: '1px solid #E5E7EB' }}&gt;&#10;            &lt;Box style={{ width: 44, height: 44, background: '#1E4FA8', borderRadius: 22, alignItems: 'center', justifyContent: 'center' }}&gt;&#10;              &lt;Text style={{ color: '#FFFFFF', fontSize: 20, fontWeight: 'bold' }}&gt;{item.n}&lt;/Text&gt;&#10;            &lt;/Box&gt;&#10;            &lt;Box style={{ flex: 1, flexDirection: 'column', gap: 4 }}&gt;&#10;              &lt;Text style={{ color: '#1A2230', fontSize: 22, fontWeight: 'bold' }}&gt;{item.t}&lt;/Text&gt;&#10;              &lt;Text style={{ color: '#4A5568', fontSize: 16, lineHeight: 1.4 }}&gt;{item.d}&lt;/Text&gt;&#10;            &lt;/Box&gt;&#10;          &lt;/Box&gt;&#10;        ))}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06 / 17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项目目标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381000" y="9525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28575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五大功能需求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381000" y="1809750"/>
            <a:ext cx="28575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对应选题五条硬性要求，一条不落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381000" y="2314575"/>
            <a:ext cx="2857500" cy="1123950"/>
          </a:xfrm>
          <a:prstGeom prst="roundRect">
            <a:avLst>
              <a:gd name="adj" fmla="val 678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552450" y="2486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覆盖完整</a:t>
            </a: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链路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552450" y="2752725"/>
            <a:ext cx="25146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解析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检索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重排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生成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溯源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评估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381000" y="5143500"/>
            <a:ext cx="2857500" cy="1181100"/>
          </a:xfrm>
          <a:prstGeom prst="roundRect">
            <a:avLst>
              <a:gd name="adj" fmla="val 645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552450" y="5314950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核心目标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552450" y="5600700"/>
            <a:ext cx="2514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生成的参数真实可用、可核对、可追溯，而非仅供演示的玩具</a:t>
            </a:r>
            <a:r>
              <a:rPr lang="en-US" sz="1125">
                <a:solidFill>
                  <a:srgbClr val="D6E4F7"/>
                </a:solidFill>
                <a:latin typeface="Microsoft YaHei"/>
                <a:ea typeface="Microsoft YaHei"/>
              </a:rPr>
              <a:t xml:space="preserve"> Demo</a:t>
            </a: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3619500" y="9525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3771900" y="11715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886200" y="12668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381500" y="11049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文档格式解析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4381500" y="14001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解析工艺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PDF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的文字、表格、页码与版面结构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3619500" y="19431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33" name=""/>
          <p:cNvSpPr/>
          <p:nvPr/>
        </p:nvSpPr>
        <p:spPr>
          <a:xfrm rot="0" flipH="0" flipV="0">
            <a:off x="3771900" y="21621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3886200" y="22574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4381500" y="20955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稠密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稀疏混合召回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4381500" y="23907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BGE-M3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稠密向量检索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BM25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关键词检索，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RRF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融合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3619500" y="29337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38" name=""/>
          <p:cNvSpPr/>
          <p:nvPr/>
        </p:nvSpPr>
        <p:spPr>
          <a:xfrm rot="0" flipH="0" flipV="0">
            <a:off x="3771900" y="31527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3886200" y="32480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4381500" y="30861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重排序模块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4381500" y="33813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Cross-encoder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bge-reranker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）二次精排，提升检索精度</a:t>
            </a:r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3619500" y="39243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3" name=""/>
          <p:cNvSpPr/>
          <p:nvPr/>
        </p:nvSpPr>
        <p:spPr>
          <a:xfrm rot="0" flipH="0" flipV="0">
            <a:off x="3771900" y="41433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3886200" y="42386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4381500" y="40767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多轮对话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引用溯源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4381500" y="43719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上下文追问、查询改写；每条参数标注来源页码</a:t>
            </a:r>
            <a:endParaRPr/>
          </a:p>
        </p:txBody>
      </p:sp>
      <p:sp>
        <p:nvSpPr>
          <p:cNvPr id="347" name=""/>
          <p:cNvSpPr/>
          <p:nvPr/>
        </p:nvSpPr>
        <p:spPr>
          <a:xfrm rot="0" flipH="0" flipV="0">
            <a:off x="3619500" y="49149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8" name=""/>
          <p:cNvSpPr/>
          <p:nvPr/>
        </p:nvSpPr>
        <p:spPr>
          <a:xfrm rot="0" flipH="0" flipV="0">
            <a:off x="3771900" y="51339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3886200" y="52292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4381500" y="50673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多文档测试（人工评估）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4381500" y="53625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多份文档构建测试集，人工评估准确率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06 / 17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4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项目目标&lt;/Text&gt;&#10;    &lt;/Box&gt;&#10;&#10;    {/* 主标题 */}&#10;    &lt;Box style={{ paddingLeft: 40, paddingRight: 40, paddingTop: 22, paddingBottom: 8, flexDirection: 'row', alignItems: 'baseline', gap: 16 }}&gt;&#10;      &lt;Text style={{ color: '#1A2230', fontSize: 34, fontWeight: 'bold' }}&gt;系统用例图（UML）&lt;/Text&gt;&#10;      &lt;Text style={{ color: '#8B97A8', fontSize: 16 }}&gt;Use Case Diagram · 需求分析&lt;/Text&gt;&#10;    &lt;/Box&gt;&#10;&#10;    {/* 用例图（大图 anchor） */}&#10;    &lt;Box style={{ flex: 1, paddingLeft: 40, paddingRight: 40, paddingBottom: 4, alignItems: 'center', justifyContent: 'center' }}&gt;&#10;      &lt;svg width={1180} height={520} viewBox='0 0 1180 520'&gt;&#10;        {/* 系统边界 */}&#10;        &lt;rect x='215' y='15' width='620' height='460' rx='12' fill='#F7F9FC' stroke='#D6DCE5' strokeWidth='1.5' /&gt;&#10;        &lt;text x='235' y='47' font-size='18' font-weight='bold' fill='#0E3F8C'&gt;工艺 RAG 生成系统&lt;/text&gt;&#10;&#10;        {/* Actor：系统管理员 */}&#10;        &lt;g stroke='#1A2230' stroke-width='2' fill='none'&gt;&#10;          &lt;circle cx='95' cy='103' r='9' fill='#FFFFFF' /&gt;&#10;          &lt;line x1='95' y1='112' x2='95' y2='133' /&gt;&#10;          &lt;line x1='79' y1='122' x2='111' y2='122' /&gt;&#10;          &lt;line x1='95' y1='133' x2='81' y2='151' /&gt;&#10;          &lt;line x1='95' y1='133' x2='109' y2='151' /&gt;&#10;        &lt;/g&gt;&#10;        &lt;text x='95' y='170' text-anchor='middle' font-size='15' font-weight='bold' fill='#1A2230'&gt;系统管理员&lt;/text&gt;&#10;&#10;        {/* Actor：工艺人员 */}&#10;        &lt;g stroke='#1A2230' stroke-width='2' fill='none'&gt;&#10;          &lt;circle cx='95' cy='248' r='9' fill='#FFFFFF' /&gt;&#10;          &lt;line x1='95' y1='257' x2='95' y2='278' /&gt;&#10;          &lt;line x1='79' y1='267' x2='111' y2='267' /&gt;&#10;          &lt;line x1='95' y1='278' x2='81' y2='296' /&gt;&#10;          &lt;line x1='95' y1='278' x2='109' y2='296' /&gt;&#10;        &lt;/g&gt;&#10;        &lt;text x='95' y='315' text-anchor='middle' font-size='15' font-weight='bold' fill='#1A2230'&gt;工艺人员&lt;/text&gt;&#10;&#10;        {/* Actor：评估人员 */}&#10;        &lt;g stroke='#1A2230' stroke-width='2' fill='none'&gt;&#10;          &lt;circle cx='95' cy='393' r='9' fill='#FFFFFF' /&gt;&#10;          &lt;line x1='95' y1='402' x2='95' y2='423' /&gt;&#10;          &lt;line x1='79' y1='412' x2='111' y2='412' /&gt;&#10;          &lt;line x1='95' y1='423' x2='81' y2='441' /&gt;&#10;          &lt;line x1='95' y1='423' x2='109' y2='441' /&gt;&#10;        &lt;/g&gt;&#10;        &lt;text x='95' y='460' text-anchor='middle' font-size='15' font-weight='bold' fill='#1A2230'&gt;评估人员&lt;/text&gt;&#10;&#10;        {/* 用例椭圆（列1） */}&#10;        &lt;g font-size='15' fill='#1A2230' text-anchor='middle'&gt;&#10;          &lt;ellipse cx='400' cy='125' rx='85' ry='27' fill='#FFFFFF' stroke='#1E4FA8' strokeWidth='2' /&gt;&#10;          &lt;text x='400' y='130'&gt;上传工艺文档&lt;/text&gt;&#10;&#10;          &lt;ellipse cx='400' cy='200' rx='85' ry='27' fill='#FFFFFF' stroke='#1E4FA8' strokeWidth='2' /&gt;&#10;          &lt;text x='400' y='205'&gt;构建知识库&lt;/text&gt;&#10;&#10;          &lt;ellipse cx='400' cy='270' rx='85' ry='27' fill='#FFFFFF' stroke='#1E4FA8' strokeWidth='2' /&gt;&#10;          &lt;text x='400' y='275'&gt;工艺问答&lt;/text&gt;&#10;&#10;          &lt;ellipse cx='400' cy='340' rx='85' ry='27' fill='#FFFFFF' stroke='#1E4FA8' strokeWidth='2' /&gt;&#10;          &lt;text x='400' y='345'&gt;多轮对话&lt;/text&gt;&#10;&#10;          &lt;ellipse cx='400' cy='415' rx='85' ry='27' fill='#FFFFFF' stroke='#1E4FA8' strokeWidth='2' /&gt;&#10;          &lt;text x='400' y='420'&gt;人工评估&lt;/text&gt;&#10;        &lt;/g&gt;&#10;&#10;        {/* 用例椭圆（列2） */}&#10;        &lt;g font-size='15' fill='#1A2230' text-anchor='middle'&gt;&#10;          &lt;ellipse cx='660' cy='270' rx='85' ry='27' fill='#FFFFFF' stroke='#1E4FA8' strokeWidth='2' /&gt;&#10;          &lt;text x='660' y='275'&gt;引用溯源&lt;/text&gt;&#10;&#10;          &lt;ellipse cx='660' cy='415' rx='85' ry='27' fill='#FFFFFF' stroke='#1E4FA8' strokeWidth='2' /&gt;&#10;          &lt;text x='660' y='420'&gt;结构化输出&lt;/text&gt;&#10;        &lt;/g&gt;&#10;&#10;        {/* 关联线（actor → 用例） */}&#10;        &lt;g stroke='#3D7BD9' stroke-width='2' fill='none'&gt;&#10;          &lt;line x1='95' y1='113' x2='315' y2='125' /&gt;&#10;          &lt;line x1='95' y1='113' x2='315' y2='200' /&gt;&#10;          &lt;line x1='95' y1='258' x2='315' y2='270' /&gt;&#10;          &lt;line x1='95' y1='258' x2='315' y2='340' /&gt;&#10;          &lt;line x1='95' y1='403' x2='315' y2='415' /&gt;&#10;        &lt;/g&gt;&#10;&#10;        {/* include 关系 */}&#10;        &lt;g stroke='#3D7BD9' stroke-width='1.5' fill='none' strokeDasharray='6 4'&gt;&#10;          &lt;line x1='485' y1='270' x2='575' y2='270' /&gt;&#10;          &lt;line x1='485' y1='270' x2='575' y2='415' /&gt;&#10;        &lt;/g&gt;&#10;        &lt;path d='M575 270 l-10 -6 v12 z' fill='#3D7BD9' stroke='none' /&gt;&#10;        &lt;path d='M575 415 l-10 -6 v12 z' fill='#3D7BD9' stroke='none' /&gt;&#10;        &lt;text x='530' y='260' text-anchor='middle' font-size='13' fill='#8B97A8'&gt;«include»&lt;/text&gt;&#10;&#10;        {/* 右侧：选题要求对应卡片 */}&#10;        &lt;rect x='870' y='60' width='295' height='390' rx='10' fill='#F0F5FC' stroke='#D6DCE5' strokeWidth='1.5' /&gt;&#10;        &lt;text x='892' y='92' font-size='16' font-weight='bold' fill='#0E3F8C'&gt;选题要求对应&lt;/text&gt;&#10;        &lt;line x1='892' y1='106' x2='1143' y2='106' stroke='#E5E7EB' strokeWidth='1' /&gt;&#10;        &lt;g font-size='14' fill='#1A2230'&gt;&#10;          &lt;text x='892' y='142'&gt;① 文档格式解析&lt;/text&gt;&#10;          &lt;text x='892' y='182'&gt;② 稠密 + 稀疏混合召回&lt;/text&gt;&#10;          &lt;text x='892' y='222'&gt;③ 重排序模块&lt;/text&gt;&#10;          &lt;text x='892' y='262'&gt;④ 多轮对话 + 引用溯源&lt;/text&gt;&#10;          &lt;text x='892' y='302'&gt;⑤ 多文档人工评估&lt;/text&gt;&#10;        &lt;/g&gt;&#10;        &lt;text x='892' y='352' font-size='13' fill='#4A5568'&gt;用例图以标准 UML 规范&lt;/text&gt;&#10;        &lt;text x='892' y='374' font-size='13' fill='#4A5568'&gt;表达参与者与系统功能&lt;/text&gt;&#10;        &lt;text x='892' y='396' font-size='13' fill='#4A5568'&gt;的边界及包含关系。&lt;/text&gt;&#10;&#10;        {/* 底部说明 */}&#10;        &lt;text x='60' y='508' font-size='14' fill='#8B97A8'&gt;实线表示参与者与用例的关联关系，虚线箭头表示 «include» 包含关系。&lt;/text&gt;&#10;      &lt;/svg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07 / 17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项目目标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30289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系统用例图（</a:t>
            </a:r>
            <a:r>
              <a:rPr lang="en-US" sz="2550" b="1">
                <a:solidFill>
                  <a:srgbClr val="1A2230"/>
                </a:solidFill>
                <a:latin typeface="Microsoft YaHei"/>
                <a:ea typeface="Microsoft YaHei"/>
              </a:rPr>
              <a:t>UML</a:t>
            </a: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562350" y="895350"/>
            <a:ext cx="20669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Use Case Diagram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需求分析</a:t>
            </a:r>
            <a:endParaRPr/>
          </a:p>
        </p:txBody>
      </p:sp>
      <p:pic>
        <p:nvPicPr>
          <p:cNvPr id="3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28750"/>
            <a:ext cx="11239500" cy="4953000"/>
          </a:xfrm>
          <a:prstGeom prst="rect">
            <a:avLst/>
          </a:prstGeom>
          <a:ln/>
        </p:spPr>
      </p:pic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07 / 17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4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技术方案&lt;/Text&gt;&#10;    &lt;/Box&gt;&#10;&#10;    {/* 主标题 */}&#10;    &lt;Box style={{ paddingLeft: 40, paddingRight: 40, paddingTop: 22, paddingBottom: 8 }}&gt;&#10;      &lt;Text style={{ color: '#1A2230', fontSize: 34, fontWeight: 'bold' }}&gt;系统总体架构：双链路&lt;/Text&gt;&#10;    &lt;/Box&gt;&#10;&#10;    {/* 架构图（大图 anchor） */}&#10;    &lt;Box style={{ flex: 1, paddingLeft: 40, paddingRight: 40, paddingBottom: 8, alignItems: 'center', justifyContent: 'center' }}&gt;&#10;      &lt;svg width={1180} height={510} viewBox='0 0 1180 510'&gt;&#10;        {/* 离线建库链路（上） */}&#10;        &lt;rect x='0' y='6' width='1180' height='165' rx='12' fill='#F0F5FC' stroke='#D6DCE5' strokeWidth='1.5' /&gt;&#10;        &lt;text x='30' y='40' font-size='20' font-weight='bold' fill='#0E3F8C'&gt;离线建库链路（一次构建）&lt;/text&gt;&#10;&#10;        {/* 离线节点 */}&#10;        &lt;g font-size='15' fill='#1A2230' text-anchor='middle'&gt;&#10;          &lt;rect x='45' y='72' width='158' height='66' rx='8' fill='#FFFFFF' stroke='#1E4FA8' strokeWidth='1.5' /&gt;&#10;          &lt;text x='124' y='100' font-weight='bold'&gt;工艺 PDF&lt;/text&gt;&#10;          &lt;text x='124' y='122' fill='#8B97A8'&gt;原始文档&lt;/text&gt;&#10;&#10;          &lt;rect x='263' y='72' width='158' height='66' rx='8' fill='#FFFFFF' stroke='#1E4FA8' strokeWidth='1.5' /&gt;&#10;          &lt;text x='342' y='100' font-weight='bold'&gt;解析&lt;/text&gt;&#10;          &lt;text x='342' y='122' fill='#8B97A8'&gt;PyMuPDF + pdfplumber&lt;/text&gt;&#10;&#10;          &lt;rect x='481' y='72' width='158' height='66' rx='8' fill='#FFFFFF' stroke='#1E4FA8' strokeWidth='1.5' /&gt;&#10;          &lt;text x='560' y='100' font-weight='bold'&gt;分块&lt;/text&gt;&#10;          &lt;text x='560' y='122' fill='#8B97A8'&gt;递归 + 表格保护&lt;/text&gt;&#10;&#10;          &lt;rect x='699' y='72' width='158' height='66' rx='8' fill='#FFFFFF' stroke='#1E4FA8' strokeWidth='1.5' /&gt;&#10;          &lt;text x='778' y='100' font-weight='bold'&gt;向量化&lt;/text&gt;&#10;          &lt;text x='778' y='122' fill='#8B97A8'&gt;BGE-M3 嵌入&lt;/text&gt;&#10;&#10;          &lt;rect x='917' y='72' width='158' height='66' rx='8' fill='#1E4FA8' /&gt;&#10;          &lt;text x='996' y='100' font-weight='bold' fill='#FFFFFF'&gt;索引入库&lt;/text&gt;&#10;          &lt;text x='996' y='122' fill='#D6E4F7'&gt;Chroma + BM25&lt;/text&gt;&#10;        &lt;/g&gt;&#10;        {/* 离线箭头 */}&#10;        &lt;g stroke='#3D7BD9' stroke-width='2.5' fill='#3D7BD9'&gt;&#10;          &lt;path d='M203 105 L258 105' /&gt;&#10;          &lt;path d='M421 105 L476 105' /&gt;&#10;          &lt;path d='M639 105 L694 105' /&gt;&#10;          &lt;path d='M857 105 L912 105' /&gt;&#10;          &lt;path d='M258 105 l-8 -6 v12 z' /&gt;&#10;          &lt;path d='M476 105 l-8 -6 v12 z' /&gt;&#10;          &lt;path d='M694 105 l-8 -6 v12 z' /&gt;&#10;          &lt;path d='M912 105 l-8 -6 v12 z' /&gt;&#10;        &lt;/g&gt;&#10;&#10;        {/* 知识库（中间，上接离线、下接在线） */}&#10;        &lt;rect x='360' y='208' width='460' height='56' rx='28' fill='#0E3F8C' /&gt;&#10;        &lt;text x='590' y='242' font-size='19' font-weight='bold' fill='#FFFFFF' text-anchor='middle'&gt;工艺知识库（稠密向量 + 稀疏索引）&lt;/text&gt;&#10;        &lt;g&gt;&#10;          {/* 索引入库 → 知识库（L 形折线：下→左→下，接入知识库顶边正中） */}&#10;          &lt;path d='M996 138 L996 173 L590 173 L590 206' stroke='#3D7BD9' stroke-width='2.5' fill='none' /&gt;&#10;          &lt;path d='M590 206 l-8 12 l16 0 z' fill='#3D7BD9' /&gt;&#10;          &lt;text x='800' y='166' font-size='13' fill='#3D7BD9'&gt;写入索引&lt;/text&gt;&#10;          {/* 知识库 → 混合召回（L 形折线：下→左→下，接入混合召回顶边正中） */}&#10;          &lt;path d='M590 264 L590 330 L330 330 L330 402' stroke='#3D7BD9' stroke-width='2.5' fill='none' /&gt;&#10;          &lt;path d='M330 402 l-8 12 l16 0 z' fill='#3D7BD9' /&gt;&#10;          &lt;text x='350' y='322' font-size='13' fill='#3D7BD9'&gt;供在线检索&lt;/text&gt;&#10;        &lt;/g&gt;&#10;&#10;        {/* 在线问答链路（下） */}&#10;        &lt;rect x='0' y='342' width='1180' height='160' rx='12' fill='#F0F5FC' stroke='#D6DCE5' strokeWidth='1.5' /&gt;&#10;        &lt;text x='30' y='376' font-size='20' font-weight='bold' fill='#0E3F8C'&gt;在线问答链路（每次提问）&lt;/text&gt;&#10;&#10;        &lt;g font-size='14' fill='#1A2230' text-anchor='middle'&gt;&#10;          &lt;rect x='45' y='404' width='150' height='62' rx='8' fill='#FFFFFF' stroke='#1E4FA8' strokeWidth='1.5' /&gt;&#10;          &lt;text x='120' y='430' font-weight='bold'&gt;用户问题&lt;/text&gt;&#10;          &lt;text x='120' y='450' fill='#8B97A8'&gt;查询改写&lt;/text&gt;&#10;&#10;          &lt;rect x='255' y='404' width='150' height='62' rx='8' fill='#FFFFFF' stroke='#1E4FA8' strokeWidth='1.5' /&gt;&#10;          &lt;text x='330' y='430' font-weight='bold'&gt;混合召回&lt;/text&gt;&#10;          &lt;text x='330' y='450' fill='#8B97A8'&gt;稠密 + 稀疏&lt;/text&gt;&#10;&#10;          &lt;rect x='465' y='404' width='150' height='62' rx='8' fill='#FFFFFF' stroke='#1E4FA8' strokeWidth='1.5' /&gt;&#10;          &lt;text x='540' y='430' font-weight='bold'&gt;RRF 融合&lt;/text&gt;&#10;          &lt;text x='540' y='450' fill='#8B97A8'&gt;k=60 去重&lt;/text&gt;&#10;&#10;          &lt;rect x='675' y='404' width='150' height='62' rx='8' fill='#FFFFFF' stroke='#1E4FA8' strokeWidth='1.5' /&gt;&#10;          &lt;text x='750' y='430' font-weight='bold'&gt;重排序&lt;/text&gt;&#10;          &lt;text x='750' y='450' fill='#8B97A8'&gt;bge-reranker&lt;/text&gt;&#10;&#10;          &lt;rect x='885' y='404' width='150' height='62' rx='8' fill='#FFFFFF' stroke='#1E4FA8' strokeWidth='1.5' /&gt;&#10;          &lt;text x='960' y='430' font-weight='bold'&gt;生成&lt;/text&gt;&#10;          &lt;text x='960' y='450' fill='#8B97A8'&gt;大模型 API&lt;/text&gt;&#10;        &lt;/g&gt;&#10;        {/* 加工指令（右侧终点） */}&#10;        &lt;rect x='1050' y='404' width='115' height='62' rx='8' fill='#1E4FA8' /&gt;&#10;        &lt;text x='1107' y='430' font-size='14' font-weight='bold' fill='#FFFFFF' text-anchor='middle'&gt;加工指令&lt;/text&gt;&#10;        &lt;text x='1107' y='450' font-size='14' fill='#D6E4F7' text-anchor='middle'&gt;带引用&lt;/text&gt;&#10;&#10;        &lt;g stroke='#3D7BD9' stroke-width='2.5' fill='#3D7BD9'&gt;&#10;          &lt;path d='M195 435 L250 435' /&gt;&#10;          &lt;path d='M405 435 L460 435' /&gt;&#10;          &lt;path d='M615 435 L670 435' /&gt;&#10;          &lt;path d='M825 435 L880 435' /&gt;&#10;          &lt;path d='M1035 435 L1045 435' /&gt;&#10;          &lt;path d='M250 435 l-8 -6 v12 z' /&gt;&#10;          &lt;path d='M460 435 l-8 -6 v12 z' /&gt;&#10;          &lt;path d='M670 435 l-8 -6 v12 z' /&gt;&#10;          &lt;path d='M880 435 l-8 -6 v12 z' /&gt;&#10;          &lt;path d='M1045 435 l-8 -6 v12 z' /&gt;&#10;        &lt;/g&gt;&#10;      &lt;/svg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08 / 17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系统总体架构：双链路</a:t>
            </a:r>
            <a:endParaRPr/>
          </a:p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57325"/>
            <a:ext cx="11239500" cy="4857750"/>
          </a:xfrm>
          <a:prstGeom prst="rect">
            <a:avLst/>
          </a:prstGeom>
          <a:ln/>
        </p:spPr>
      </p:pic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08 / 17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73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技术方案&lt;/Text&gt;&#10;    &lt;/Box&gt;&#10;&#10;    {/* 主标题 */}&#10;    &lt;Box style={{ paddingLeft: 40, paddingRight: 40, paddingTop: 22, paddingBottom: 8, flexDirection: 'row', alignItems: 'baseline', gap: 16 }}&gt;&#10;      &lt;Text style={{ color: '#1A2230', fontSize: 34, fontWeight: 'bold' }}&gt;系统组件图（UML）&lt;/Text&gt;&#10;      &lt;Text style={{ color: '#8B97A8', fontSize: 16 }}&gt;Component Diagram · 概要设计&lt;/Text&gt;&#10;    &lt;/Box&gt;&#10;&#10;    {/* 组件图（大图 anchor） */}&#10;    &lt;Box style={{ flex: 1, paddingLeft: 40, paddingRight: 40, paddingBottom: 4, alignItems: 'center', justifyContent: 'center' }}&gt;&#10;      &lt;svg width={1180} height={520} viewBox='0 0 1180 520'&gt;&#10;        {/* 离线建库链路（一组组件，用虚线框表示逻辑分组，非泳道） */}&#10;        &lt;text x='40' y='50' font-size='19' font-weight='bold' fill='#0E3F8C'&gt;离线建库（一次构建）&lt;/text&gt;&#10;&#10;        &lt;g&gt;&#10;          &lt;rect x='40' y='70' width='220' height='95' rx='6' fill='#FFFFFF' stroke='#1E4FA8' strokeWidth='2' /&gt;&#10;          &lt;rect x='226' y='62' width='22' height='12' rx='2' fill='#FFFFFF' stroke='#1E4FA8' strokeWidth='1.5' /&gt;&#10;          &lt;rect x='234' y='58' width='12' height='8' rx='2' fill='#FFFFFF' stroke='#1E4FA8' strokeWidth='1.5' /&gt;&#10;          &lt;text x='150' y='105' text-anchor='middle' font-size='17' font-weight='bold' fill='#1A2230'&gt;文档解析&lt;/text&gt;&#10;          &lt;text x='150' y='127' text-anchor='middle' font-size='12' fill='#8B97A8'&gt;«component»&lt;/text&gt;&#10;          &lt;text x='150' y='149' text-anchor='middle' font-size='12' fill='#4A5568'&gt;PyMuPDF + pdfplumber&lt;/text&gt;&#10;&#10;          &lt;rect x='320' y='70' width='220' height='95' rx='6' fill='#FFFFFF' stroke='#1E4FA8' strokeWidth='2' /&gt;&#10;          &lt;rect x='506' y='62' width='22' height='12' rx='2' fill='#FFFFFF' stroke='#1E4FA8' strokeWidth='1.5' /&gt;&#10;          &lt;rect x='514' y='58' width='12' height='8' rx='2' fill='#FFFFFF' stroke='#1E4FA8' strokeWidth='1.5' /&gt;&#10;          &lt;text x='430' y='105' text-anchor='middle' font-size='17' font-weight='bold' fill='#1A2230'&gt;文档分块&lt;/text&gt;&#10;          &lt;text x='430' y='127' text-anchor='middle' font-size='12' fill='#8B97A8'&gt;«component»&lt;/text&gt;&#10;          &lt;text x='430' y='149' text-anchor='middle' font-size='12' fill='#4A5568'&gt;递归分块 + 表格保护&lt;/text&gt;&#10;&#10;          &lt;rect x='600' y='70' width='220' height='95' rx='6' fill='#FFFFFF' stroke='#1E4FA8' strokeWidth='2' /&gt;&#10;          &lt;rect x='786' y='62' width='22' height='12' rx='2' fill='#FFFFFF' stroke='#1E4FA8' strokeWidth='1.5' /&gt;&#10;          &lt;rect x='794' y='58' width='12' height='8' rx='2' fill='#FFFFFF' stroke='#1E4FA8' strokeWidth='1.5' /&gt;&#10;          &lt;text x='710' y='105' text-anchor='middle' font-size='17' font-weight='bold' fill='#1A2230'&gt;向量化&lt;/text&gt;&#10;          &lt;text x='710' y='127' text-anchor='middle' font-size='12' fill='#8B97A8'&gt;«component»&lt;/text&gt;&#10;          &lt;text x='710' y='149' text-anchor='middle' font-size='12' fill='#4A5568'&gt;BGE-M3 嵌入&lt;/text&gt;&#10;&#10;          &lt;rect x='880' y='70' width='220' height='95' rx='6' fill='#1E4FA8' /&gt;&#10;          &lt;rect x='1066' y='62' width='22' height='12' rx='2' fill='#1E4FA8' stroke='#FFFFFF' strokeWidth='1.5' /&gt;&#10;          &lt;rect x='1074' y='58' width='12' height='8' rx='2' fill='#1E4FA8' stroke='#FFFFFF' strokeWidth='1.5' /&gt;&#10;          &lt;text x='990' y='105' text-anchor='middle' font-size='17' font-weight='bold' fill='#FFFFFF'&gt;索引构建&lt;/text&gt;&#10;          &lt;text x='990' y='127' text-anchor='middle' font-size='12' fill='#D6E4F7'&gt;«component»&lt;/text&gt;&#10;          &lt;text x='990' y='149' text-anchor='middle' font-size='12' fill='#D6E4F7'&gt;Chroma + BM25&lt;/text&gt;&#10;        &lt;/g&gt;&#10;        {/* 离线依赖箭头（虚线开放箭头 = UML 依赖） */}&#10;        &lt;g stroke='#3D7BD9' stroke-width='2' fill='none' stroke-dasharray='6 4'&gt;&#10;          &lt;path d='M260 117 L312 117' /&gt;&#10;          &lt;path d='M540 117 L592 117' /&gt;&#10;          &lt;path d='M820 117 L872 117' /&gt;&#10;        &lt;/g&gt;&#10;        &lt;g stroke='#3D7BD9' stroke-width='2' fill='#3D7BD9'&gt;&#10;          &lt;path d='M312 117 l-8 -6 v12 z' /&gt;&#10;          &lt;path d='M592 117 l-8 -6 v12 z' /&gt;&#10;          &lt;path d='M872 117 l-8 -6 v12 z' /&gt;&#10;        &lt;/g&gt;&#10;        {/* 接口名（棒棒糖 lollipop，标注在依赖关系上） */}&#10;        &lt;g font-size='11' fill='#3D7BD9'&gt;&#10;          &lt;text x='286' y='108'&gt;IChunk&lt;/text&gt;&#10;          &lt;text x='566' y='108'&gt;IVector&lt;/text&gt;&#10;          &lt;text x='846' y='108'&gt;IIndex&lt;/text&gt;&#10;        &lt;/g&gt;&#10;&#10;        {/* 在线问答链路（一组组件） */}&#10;        &lt;text x='40' y='245' font-size='19' font-weight='bold' fill='#0E3F8C'&gt;在线问答（每次提问）&lt;/text&gt;&#10;&#10;        &lt;g&gt;&#10;          &lt;rect x='40' y='265' width='165' height='95' rx='6' fill='#FFFFFF' stroke='#1E4FA8' strokeWidth='2' /&gt;&#10;          &lt;rect x='171' y='257' width='22' height='12' rx='2' fill='#FFFFFF' stroke='#1E4FA8' strokeWidth='1.5' /&gt;&#10;          &lt;rect x='179' y='253' width='12' height='8' rx='2' fill='#FFFFFF' stroke='#1E4FA8' strokeWidth='1.5' /&gt;&#10;          &lt;text x='122' y='300' text-anchor='middle' font-size='16' font-weight='bold' fill='#1A2230'&gt;对话管理&lt;/text&gt;&#10;          &lt;text x='122' y='322' text-anchor='middle' font-size='12' fill='#8B97A8'&gt;«component»&lt;/text&gt;&#10;          &lt;text x='122' y='344' text-anchor='middle' font-size='12' fill='#4A5568'&gt;查询改写&lt;/text&gt;&#10;&#10;          &lt;rect x='243' y='265' width='165' height='95' rx='6' fill='#FFFFFF' stroke='#1E4FA8' strokeWidth='2' /&gt;&#10;          &lt;rect x='374' y='257' width='22' height='12' rx='2' fill='#FFFFFF' stroke='#1E4FA8' strokeWidth='1.5' /&gt;&#10;          &lt;rect x='382' y='253' width='12' height='8' rx='2' fill='#FFFFFF' stroke='#1E4FA8' strokeWidth='1.5' /&gt;&#10;          &lt;text x='325' y='300' text-anchor='middle' font-size='16' font-weight='bold' fill='#1A2230'&gt;混合检索&lt;/text&gt;&#10;          &lt;text x='325' y='322' text-anchor='middle' font-size='12' fill='#8B97A8'&gt;«component»&lt;/text&gt;&#10;          &lt;text x='325' y='344' text-anchor='middle' font-size='12' fill='#4A5568'&gt;稠密 + 稀疏&lt;/text&gt;&#10;&#10;          &lt;rect x='446' y='265' width='165' height='95' rx='6' fill='#FFFFFF' stroke='#1E4FA8' strokeWidth='2' /&gt;&#10;          &lt;rect x='577' y='257' width='22' height='12' rx='2' fill='#FFFFFF' stroke='#1E4FA8' strokeWidth='1.5' /&gt;&#10;          &lt;rect x='585' y='253' width='12' height='8' rx='2' fill='#FFFFFF' stroke='#1E4FA8' strokeWidth='1.5' /&gt;&#10;          &lt;text x='528' y='300' text-anchor='middle' font-size='16' font-weight='bold' fill='#1A2230'&gt;重排序&lt;/text&gt;&#10;          &lt;text x='528' y='322' text-anchor='middle' font-size='12' fill='#8B97A8'&gt;«component»&lt;/text&gt;&#10;          &lt;text x='528' y='344' text-anchor='middle' font-size='12' fill='#4A5568'&gt;bge-reranker&lt;/text&gt;&#10;&#10;          &lt;rect x='649' y='265' width='165' height='95' rx='6' fill='#FFFFFF' stroke='#1E4FA8' strokeWidth='2' /&gt;&#10;          &lt;rect x='780' y='257' width='22' height='12' rx='2' fill='#FFFFFF' stroke='#1E4FA8' strokeWidth='1.5' /&gt;&#10;          &lt;rect x='788' y='253' width='12' height='8' rx='2' fill='#FFFFFF' stroke='#1E4FA8' strokeWidth='1.5' /&gt;&#10;          &lt;text x='731' y='300' text-anchor='middle' font-size='16' font-weight='bold' fill='#1A2230'&gt;生成&lt;/text&gt;&#10;          &lt;text x='731' y='322' text-anchor='middle' font-size='12' fill='#8B97A8'&gt;«component»&lt;/text&gt;&#10;          &lt;text x='731' y='344' text-anchor='middle' font-size='12' fill='#4A5568'&gt;大模型 API&lt;/text&gt;&#10;&#10;          &lt;rect x='852' y='265' width='165' height='95' rx='6' fill='#FFFFFF' stroke='#1E4FA8' strokeWidth='2' /&gt;&#10;          &lt;rect x='983' y='257' width='22' height='12' rx='2' fill='#FFFFFF' stroke='#1E4FA8' strokeWidth='1.5' /&gt;&#10;          &lt;rect x='991' y='253' width='12' height='8' rx='2' fill='#FFFFFF' stroke='#1E4FA8' strokeWidth='1.5' /&gt;&#10;          &lt;text x='934' y='300' text-anchor='middle' font-size='16' font-weight='bold' fill='#1A2230'&gt;引用溯源&lt;/text&gt;&#10;          &lt;text x='934' y='322' text-anchor='middle' font-size='12' fill='#8B97A8'&gt;«component»&lt;/text&gt;&#10;          &lt;text x='934' y='344' text-anchor='middle' font-size='12' fill='#4A5568'&gt;页码定位&lt;/text&gt;&#10;&#10;          &lt;rect x='1055' y='265' width='165' height='95' rx='6' fill='#1E4FA8' /&gt;&#10;          &lt;rect x='1186' y='257' width='22' height='12' rx='2' fill='#1E4FA8' stroke='#FFFFFF' strokeWidth='1.5' /&gt;&#10;          &lt;rect x='1194' y='253' width='12' height='8' rx='2' fill='#1E4FA8' stroke='#FFFFFF' strokeWidth='1.5' /&gt;&#10;          &lt;text x='1137' y='300' text-anchor='middle' font-size='16' font-weight='bold' fill='#FFFFFF'&gt;Web 界面&lt;/text&gt;&#10;          &lt;text x='1137' y='322' text-anchor='middle' font-size='12' fill='#D6E4F7'&gt;«component»&lt;/text&gt;&#10;          &lt;text x='1137' y='344' text-anchor='middle' font-size='12' fill='#D6E4F7'&gt;Gradio&lt;/text&gt;&#10;        &lt;/g&gt;&#10;        {/* 在线依赖箭头（虚线开放箭头 = UML 依赖） */}&#10;        &lt;g stroke='#3D7BD9' stroke-width='2' fill='none' stroke-dasharray='6 4'&gt;&#10;          &lt;path d='M205 312 L235 312' /&gt;&#10;          &lt;path d='M408 312 L438 312' /&gt;&#10;          &lt;path d='M611 312 L641 312' /&gt;&#10;          &lt;path d='M814 312 L844 312' /&gt;&#10;          &lt;path d='M1017 312 L1047 312' /&gt;&#10;        &lt;/g&gt;&#10;        &lt;g stroke='#3D7BD9' stroke-width='2' fill='#3D7BD9'&gt;&#10;          &lt;path d='M235 312 l-8 -6 v12 z' /&gt;&#10;          &lt;path d='M438 312 l-8 -6 v12 z' /&gt;&#10;          &lt;path d='M641 312 l-8 -6 v12 z' /&gt;&#10;          &lt;path d='M844 312 l-8 -6 v12 z' /&gt;&#10;          &lt;path d='M1047 312 l-8 -6 v12 z' /&gt;&#10;        &lt;/g&gt;&#10;        {/* 接口名 */}&#10;        &lt;g font-size='11' fill='#3D7BD9'&gt;&#10;          &lt;text x='220' y='303'&gt;IQuery&lt;/text&gt;&#10;          &lt;text x='423' y='303'&gt;IRetrieve&lt;/text&gt;&#10;          &lt;text x='626' y='303'&gt;IRerank&lt;/text&gt;&#10;          &lt;text x='829' y='303'&gt;IGenerate&lt;/text&gt;&#10;          &lt;text x='1032' y='303'&gt;ICite&lt;/text&gt;&#10;        &lt;/g&gt;&#10;&#10;        {/* 依赖关系：在线检索依赖离线索引组件（虚线开放箭头） */}&#10;        &lt;path d='M240 360 C240 470 990 470 990 178' fill='none' stroke='#3D7BD9' stroke-width='2' stroke-dasharray='6 4' /&gt;&#10;        &lt;path d='M990 178 l-8 6 v-12 z' fill='#3D7BD9' stroke='#3D7BD9' stroke-width='2' /&gt;&#10;        &lt;text x='600' y='462' text-anchor='middle' font-size='12' fill='#3D7BD9'&gt;«use» IIndex&lt;/text&gt;&#10;&#10;        {/* 底部说明 */}&#10;        &lt;text x='40' y='512' font-size='14' fill='#8B97A8'&gt;虚线开放箭头表示组件间依赖；右上角图标与 «component» 为 UML 组件符号，接口以名称标注。&lt;/text&gt;&#10;      &lt;/svg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09 / 17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30289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系统组件图（</a:t>
            </a:r>
            <a:r>
              <a:rPr lang="en-US" sz="2550" b="1">
                <a:solidFill>
                  <a:srgbClr val="1A2230"/>
                </a:solidFill>
                <a:latin typeface="Microsoft YaHei"/>
                <a:ea typeface="Microsoft YaHei"/>
              </a:rPr>
              <a:t>UML</a:t>
            </a: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3562350" y="895350"/>
            <a:ext cx="22764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Component Diagram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概要设计</a:t>
            </a:r>
            <a:endParaRPr/>
          </a:p>
        </p:txBody>
      </p:sp>
      <p:pic>
        <p:nvPicPr>
          <p:cNvPr id="3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28750"/>
            <a:ext cx="11239500" cy="4953000"/>
          </a:xfrm>
          <a:prstGeom prst="rect">
            <a:avLst/>
          </a:prstGeom>
          <a:ln/>
        </p:spPr>
      </p:pic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09 / 17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7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技术方案&lt;/Text&gt;&#10;    &lt;/Box&gt;&#10;&#10;    {/* 左标题栏 + 右流程 */}&#10;    &lt;Box style={{ flex: 1, flexDirection: 'row', paddingLeft: 40, paddingRight: 40, paddingTop: 28, paddingBottom: 16, gap: 40 }}&gt;&#10;      {/* 左标题栏 */}&#10;      &lt;Box style={{ width: 300, flexDirection: 'column', justifyContent: 'space-between', gap: 16 }}&gt;&#10;        &lt;Box style={{ flexDirection: 'column', gap: 16 }}&gt;&#10;          &lt;Box style={{ width: 48, height: 4, background: '#3D7BD9', borderRadius: 2 }} /&gt;&#10;          &lt;Text style={{ color: '#1A2230', fontSize: 34, fontWeight: 'bold', lineHeight: 1.3 }}&gt;离线建库链路&lt;/Text&gt;&#10;          &lt;Text style={{ color: '#8B97A8', fontSize: 16, lineHeight: 1.5 }}&gt;一次构建，为在线问答准备可检索的知识库&lt;/Text&gt;&#10;        &lt;/Box&gt;&#10;        &lt;Box style={{ padding: 18, background: '#0E3F8C', borderRadius: 8 }}&gt;&#10;          &lt;Text style={{ color: '#FFFFFF', fontSize: 18, fontWeight: 'bold' }}&gt;关键点&lt;/Text&gt;&#10;          &lt;Text style={{ color: '#D6E4F7', fontSize: 15, lineHeight: 1.6, marginTop: 8 }}&gt;&#10;            表格保护：解析保留表格结构，分块保护完整表格，块记录来源文档、页码、章节元数据。&#10;          &lt;/Text&gt;&#10;        &lt;/Box&gt;&#10;      &lt;/Box&gt;&#10;&#10;      {/* 右：流程节点串（纵向，撑满） */}&#10;      &lt;Box style={{ flex: 1, flexDirection: 'column', justifyContent: 'space-between' }}&gt;&#10;        {[&#10;          { t: '文档解析', d: 'PyMuPDF 提取文字/页码/版面，pdfplumber 抽取表格结构', n: '1' },&#10;          { t: '文档分块', d: '递归字符分块 + 表格保护 + 相邻块重叠', n: '2' },&#10;          { t: '向量化', d: 'BGE-M3 嵌入模型生成稠密向量', n: '3' },&#10;          { t: '索引入库', d: 'Chroma 写入稠密向量，rank_bm25 构建稀疏索引', n: '4' },&#10;        ].map((item) =&gt; (&#10;          &lt;Box key={item.n} style={{ flexDirection: 'row', alignItems: 'center', gap: 20, padding: 22, background: '#F7F9FC', borderRadius: 10, border: '1px solid #E5E7EB' }}&gt;&#10;            &lt;Box style={{ width: 46, height: 46, background: '#1E4FA8', borderRadius: 23, alignItems: 'center', justifyContent: 'center' }}&gt;&#10;              &lt;Text style={{ color: '#FFFFFF', fontSize: 20, fontWeight: 'bold' }}&gt;{item.n}&lt;/Text&gt;&#10;            &lt;/Box&gt;&#10;            &lt;Box style={{ flex: 1, flexDirection: 'column', gap: 6 }}&gt;&#10;              &lt;Text style={{ color: '#1A2230', fontSize: 22, fontWeight: 'bold' }}&gt;{item.t}&lt;/Text&gt;&#10;              &lt;Text style={{ color: '#4A5568', fontSize: 16, lineHeight: 1.5 }}&gt;{item.d}&lt;/Text&gt;&#10;            &lt;/Box&gt;&#10;          &lt;/Box&gt;&#10;        ))}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10 / 17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381000" y="9525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28575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离线建库链路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381000" y="1809750"/>
            <a:ext cx="2857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一次构建，为在线问答准备可检索的知识库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381000" y="4867275"/>
            <a:ext cx="2857500" cy="1457325"/>
          </a:xfrm>
          <a:prstGeom prst="roundRect">
            <a:avLst>
              <a:gd name="adj" fmla="val 52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52450" y="50387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关键点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552450" y="5324475"/>
            <a:ext cx="25146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表格保护：解析保留表格结构，分块保护完整表格，块记录来源文档、页码、章节元数据。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3619500" y="952500"/>
            <a:ext cx="8191500" cy="1009650"/>
          </a:xfrm>
          <a:prstGeom prst="roundRect">
            <a:avLst>
              <a:gd name="adj" fmla="val 943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3829050" y="12382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3990975" y="13430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4457700" y="1162050"/>
            <a:ext cx="7143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文档解析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4457700" y="1476375"/>
            <a:ext cx="7143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PyMuPDF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提取文字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页码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版面，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pdfplumber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抽取表格结构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3619500" y="2409825"/>
            <a:ext cx="8191500" cy="1009650"/>
          </a:xfrm>
          <a:prstGeom prst="roundRect">
            <a:avLst>
              <a:gd name="adj" fmla="val 943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3829050" y="2695575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3990975" y="28003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457700" y="2619375"/>
            <a:ext cx="7143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文档分块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457700" y="2933700"/>
            <a:ext cx="7143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递归字符分块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表格保护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相邻块重叠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3619500" y="3857625"/>
            <a:ext cx="8191500" cy="1009650"/>
          </a:xfrm>
          <a:prstGeom prst="roundRect">
            <a:avLst>
              <a:gd name="adj" fmla="val 943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3829050" y="4143375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990975" y="42481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457700" y="4067175"/>
            <a:ext cx="7143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向量化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4457700" y="4381500"/>
            <a:ext cx="7143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BGE-M3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嵌入模型生成稠密向量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3619500" y="5314950"/>
            <a:ext cx="8191500" cy="1009650"/>
          </a:xfrm>
          <a:prstGeom prst="roundRect">
            <a:avLst>
              <a:gd name="adj" fmla="val 943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3829050" y="56007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3990975" y="57054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4457700" y="5524500"/>
            <a:ext cx="7143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索引入库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4457700" y="5838825"/>
            <a:ext cx="7143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Chroma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写入稠密向量，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rank_bm25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构建稀疏索引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10 / 17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0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技术方案&lt;/Text&gt;&#10;    &lt;/Box&gt;&#10;&#10;    {/* 左标题栏 + 右流程 */}&#10;    &lt;Box style={{ flex: 1, flexDirection: 'row', paddingLeft: 40, paddingRight: 40, paddingTop: 28, paddingBottom: 16, gap: 40 }}&gt;&#10;      {/* 左标题栏 */}&#10;      &lt;Box style={{ width: 300, flexDirection: 'column', justifyContent: 'space-between', gap: 16 }}&gt;&#10;        &lt;Box style={{ flexDirection: 'column', gap: 16 }}&gt;&#10;          &lt;Box style={{ width: 48, height: 4, background: '#3D7BD9', borderRadius: 2 }} /&gt;&#10;          &lt;Text style={{ color: '#1A2230', fontSize: 34, fontWeight: 'bold', lineHeight: 1.3 }}&gt;在线问答链路&lt;/Text&gt;&#10;          &lt;Text style={{ color: '#8B97A8', fontSize: 16, lineHeight: 1.5 }}&gt;每次提问，从知识库检索并生成带引用的加工指令&lt;/Text&gt;&#10;        &lt;/Box&gt;&#10;        &lt;Box style={{ padding: 18, background: '#0E3F8C', borderRadius: 8 }}&gt;&#10;          &lt;Text style={{ color: '#FFFFFF', fontSize: 18, fontWeight: 'bold' }}&gt;关键点&lt;/Text&gt;&#10;          &lt;Text style={{ color: '#D6E4F7', fontSize: 15, lineHeight: 1.6, marginTop: 8 }}&gt;&#10;            多轮查询改写：把含代词、省略的追问补全为独立问题，再走检索链路。&#10;          &lt;/Text&gt;&#10;        &lt;/Box&gt;&#10;      &lt;/Box&gt;&#10;&#10;      {/* 右：流程节点串（纵向，撑满） */}&#10;      &lt;Box style={{ flex: 1, flexDirection: 'column', justifyContent: 'space-between' }}&gt;&#10;        {[&#10;          { t: '查询改写', d: '记录历史，将追问补全为独立问题', n: '1' },&#10;          { t: '混合召回', d: '并行执行向量检索 + BM25 检索', n: '2' },&#10;          { t: 'RRF 融合', d: 'k=60 合并两路结果并去重', n: '3' },&#10;          { t: '重排序', d: 'bge-reranker-v2-m3 精排，取 top 3~5', n: '4' },&#10;          { t: '生成 + 溯源', d: '拼装 Prompt 调用大模型，生成带引用的结构化指令', n: '5' },&#10;        ].map((item) =&gt; (&#10;          &lt;Box key={item.n} style={{ flexDirection: 'row', alignItems: 'center', gap: 20, padding: 16, background: '#F7F9FC', borderRadius: 10, border: '1px solid #E5E7EB' }}&gt;&#10;            &lt;Box style={{ width: 46, height: 46, background: '#1E4FA8', borderRadius: 23, alignItems: 'center', justifyContent: 'center' }}&gt;&#10;              &lt;Text style={{ color: '#FFFFFF', fontSize: 20, fontWeight: 'bold' }}&gt;{item.n}&lt;/Text&gt;&#10;            &lt;/Box&gt;&#10;            &lt;Box style={{ flex: 1, flexDirection: 'column', gap: 6 }}&gt;&#10;              &lt;Text style={{ color: '#1A2230', fontSize: 22, fontWeight: 'bold' }}&gt;{item.t}&lt;/Text&gt;&#10;              &lt;Text style={{ color: '#4A5568', fontSize: 16, lineHeight: 1.5 }}&gt;{item.d}&lt;/Text&gt;&#10;            &lt;/Box&gt;&#10;          &lt;/Box&gt;&#10;        ))}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11 / 17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381000" y="9525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28575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在线问答链路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381000" y="1809750"/>
            <a:ext cx="2857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每次提问，从知识库检索并生成带引用的加工指令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381000" y="5143500"/>
            <a:ext cx="2857500" cy="1181100"/>
          </a:xfrm>
          <a:prstGeom prst="roundRect">
            <a:avLst>
              <a:gd name="adj" fmla="val 645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552450" y="5314950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关键点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52450" y="5600700"/>
            <a:ext cx="2514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多轮查询改写：把含代词、省略的追问补全为独立问题，再走检索链路。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3619500" y="952500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2" name=""/>
          <p:cNvSpPr/>
          <p:nvPr/>
        </p:nvSpPr>
        <p:spPr>
          <a:xfrm rot="0" flipH="0" flipV="0">
            <a:off x="3771900" y="11811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3933825" y="12858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4400550" y="1104900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查询改写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4400550" y="1419225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记录历史，将追问补全为独立问题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3619500" y="2076450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7" name=""/>
          <p:cNvSpPr/>
          <p:nvPr/>
        </p:nvSpPr>
        <p:spPr>
          <a:xfrm rot="0" flipH="0" flipV="0">
            <a:off x="3771900" y="23050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3933825" y="24098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4400550" y="2228850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混合召回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4400550" y="2543175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并行执行向量检索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BM25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检索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3619500" y="3190875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" name=""/>
          <p:cNvSpPr/>
          <p:nvPr/>
        </p:nvSpPr>
        <p:spPr>
          <a:xfrm rot="0" flipH="0" flipV="0">
            <a:off x="3771900" y="3419475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933825" y="35242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4400550" y="3343275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RRF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融合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4400550" y="3657600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k=60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合并两路结果并去重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3619500" y="4314825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3771900" y="4543425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933825" y="46482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4400550" y="4467225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重排序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400550" y="4781550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bge-reranker-v2-m3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精排，取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top 3~5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3619500" y="5429250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2" name=""/>
          <p:cNvSpPr/>
          <p:nvPr/>
        </p:nvSpPr>
        <p:spPr>
          <a:xfrm rot="0" flipH="0" flipV="0">
            <a:off x="3771900" y="56578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933825" y="57626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4400550" y="5581650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生成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溯源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4400550" y="5895975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拼装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Prompt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调用大模型，生成带引用的结构化指令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11 / 17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88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技术方案&lt;/Text&gt;&#10;    &lt;/Box&gt;&#10;&#10;    {/* 主标题 */}&#10;    &lt;Box style={{ paddingLeft: 40, paddingRight: 40, paddingTop: 26, paddingBottom: 14 }}&gt;&#10;      &lt;Text style={{ color: '#1A2230', fontSize: 34, fontWeight: 'bold' }}&gt;两大关键技术特色&lt;/Text&gt;&#10;    &lt;/Box&gt;&#10;&#10;    {/* 非对称双栏：左 55% 特色一，右 40% 特色二 */}&#10;    &lt;Box style={{ flex: 1, flexDirection: 'row', paddingLeft: 40, paddingRight: 40, gap: 32, paddingBottom: 20 }}&gt;&#10;      {/* 左：特色一 */}&#10;      &lt;Box style={{ flex: 1.35, flexDirection: 'column', padding: 30, background: '#0E3F8C', borderRadius: 14, justifyContent: 'space-between' }}&gt;&#10;        &lt;Box style={{ flexDirection: 'row', alignItems: 'center', gap: 12 }}&gt;&#10;          &lt;Box style={{ width: 36, height: 36, background: '#3D7BD9', borderRadius: 8, alignItems: 'center', justifyContent: 'center' }}&gt;&#10;            &lt;Text style={{ color: '#FFFFFF', fontSize: 20, fontWeight: 'bold' }}&gt;1&lt;/Text&gt;&#10;          &lt;/Box&gt;&#10;          &lt;Text style={{ color: '#FFFFFF', fontSize: 26, fontWeight: 'bold' }}&gt;混合召回 + 重排序的两级检索&lt;/Text&gt;&#10;        &lt;/Box&gt;&#10;        &lt;Text style={{ color: '#D6E4F7', fontSize: 19, lineHeight: 1.7, marginTop: 22 }}&gt;&#10;          双路召回保证「不遗漏」：稠密向量负责语义理解，BM25 负责型号、数字等精确匹配；&#10;        &lt;/Text&gt;&#10;        &lt;Text style={{ color: '#D6E4F7', fontSize: 19, lineHeight: 1.7, marginTop: 14 }}&gt;&#10;          Cross-encoder 精排保证「准确」：在有限候选中二次排序，兼顾检索质量与响应速度。&#10;        &lt;/Text&gt;&#10;        &lt;Box style={{ flexDirection: 'row', alignItems: 'center', gap: 10, paddingTop: 22 }}&gt;&#10;          &lt;Box style={{ width: 10, height: 10, background: '#3D7BD9', borderRadius: 5 }} /&gt;&#10;          &lt;Text style={{ color: '#8FB3E8', fontSize: 15 }}&gt;针对数字、牌号对精确匹配要求高的痛点&lt;/Text&gt;&#10;        &lt;/Box&gt;&#10;      &lt;/Box&gt;&#10;&#10;      {/* 右：特色二 */}&#10;      &lt;Box style={{ flex: 1, flexDirection: 'column', padding: 30, background: '#F7F9FC', borderRadius: 14, border: '1px solid #E5E7EB', justifyContent: 'space-between' }}&gt;&#10;        &lt;Box style={{ flexDirection: 'row', alignItems: 'center', gap: 12 }}&gt;&#10;          &lt;Box style={{ width: 36, height: 36, background: '#1E4FA8', borderRadius: 8, alignItems: 'center', justifyContent: 'center' }}&gt;&#10;            &lt;Text style={{ color: '#FFFFFF', fontSize: 20, fontWeight: 'bold' }}&gt;2&lt;/Text&gt;&#10;          &lt;/Box&gt;&#10;          &lt;Text style={{ color: '#1A2230', fontSize: 26, fontWeight: 'bold' }}&gt;表格处理 + 可信生成&lt;/Text&gt;&#10;        &lt;/Box&gt;&#10;        &lt;Box style={{ flexDirection: 'column', gap: 22, marginTop: 22 }}&gt;&#10;          &lt;Box style={{ flexDirection: 'column', gap: 6 }}&gt;&#10;            &lt;Text style={{ color: '#1E4FA8', fontSize: 18, fontWeight: 'bold' }}&gt;表格与参数处理&lt;/Text&gt;&#10;            &lt;Text style={{ color: '#4A5568', fontSize: 17, lineHeight: 1.6 }}&gt;解析保留表格结构，分块保护完整表格，BM25 精确匹配型号数字&lt;/Text&gt;&#10;          &lt;/Box&gt;&#10;          &lt;Box style={{ flexDirection: 'column', gap: 6 }}&gt;&#10;            &lt;Text style={{ color: '#1E4FA8', fontSize: 18, fontWeight: 'bold' }}&gt;强约束可信生成&lt;/Text&gt;&#10;            &lt;Text style={{ color: '#4A5568', fontSize: 17, lineHeight: 1.6 }}&gt;Prompt 约束「只依据资料作答、资料不足即声明」，参数与来源页码绑定，实现可核对、可追溯&lt;/Text&gt;&#10;          &lt;/Box&gt;&#10;        &lt;/Box&gt;&#10;        &lt;Box style={{ flexDirection: 'row', alignItems: 'center', gap: 10, paddingTop: 22 }}&gt;&#10;          &lt;Box style={{ width: 10, height: 10, background: '#1E4FA8', borderRadius: 5 }} /&gt;&#10;          &lt;Text style={{ color: '#1E4FA8', fontSize: 15 }}&gt;实现可核对、可追溯的加工指令&lt;/Text&gt;&#10;        &lt;/Box&gt;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12 / 17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381000" y="9334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两大关键技术特色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381000" y="1457325"/>
            <a:ext cx="6391275" cy="4829175"/>
          </a:xfrm>
          <a:prstGeom prst="roundRect">
            <a:avLst>
              <a:gd name="adj" fmla="val 276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666750" y="17430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781050" y="18002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123950" y="1762125"/>
            <a:ext cx="3314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混合召回</a:t>
            </a: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重排序的两级检索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66750" y="2867025"/>
            <a:ext cx="5819775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双路召回保证「不遗漏」：稠密向量负责语义理解，</a:t>
            </a:r>
            <a:r>
              <a:rPr lang="en-US" sz="1425">
                <a:solidFill>
                  <a:srgbClr val="D6E4F7"/>
                </a:solidFill>
                <a:latin typeface="Microsoft YaHei"/>
                <a:ea typeface="Microsoft YaHei"/>
              </a:rPr>
              <a:t xml:space="preserve">BM25 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负责型号、数字等精确匹配；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666750" y="4305300"/>
            <a:ext cx="5819775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425">
                <a:solidFill>
                  <a:srgbClr val="D6E4F7"/>
                </a:solidFill>
                <a:latin typeface="Microsoft YaHei"/>
                <a:ea typeface="Microsoft YaHei"/>
              </a:rPr>
              <a:t xml:space="preserve">Cross-encoder 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精排保证「准确」：在有限候选中二次排序，兼顾检索质量与响应速度。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66750" y="58674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857250" y="5829300"/>
            <a:ext cx="2571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B3E8"/>
                </a:solidFill>
                <a:latin typeface="Microsoft YaHei"/>
                <a:ea typeface="Microsoft YaHei"/>
              </a:rPr>
              <a:t>针对数字、牌号对精确匹配要求高的痛点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7077075" y="1457325"/>
            <a:ext cx="4733925" cy="4829175"/>
          </a:xfrm>
          <a:prstGeom prst="roundRect">
            <a:avLst>
              <a:gd name="adj" fmla="val 28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7362825" y="17430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477125" y="18002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820025" y="1762125"/>
            <a:ext cx="23241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表格处理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可信生成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362825" y="2962275"/>
            <a:ext cx="4162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表格与参数处理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7362825" y="3228975"/>
            <a:ext cx="41624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解析保留表格结构，分块保护完整表格，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BM25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精确匹配型号数字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362825" y="4067175"/>
            <a:ext cx="4162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强约束可信生成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7362825" y="4333875"/>
            <a:ext cx="41624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Prompt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约束「只依据资料作答、资料不足即声明」，参数与来源页码绑定，实现可核对、可追溯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7362825" y="58674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7553325" y="5829300"/>
            <a:ext cx="2000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E4FA8"/>
                </a:solidFill>
                <a:latin typeface="Microsoft YaHei"/>
                <a:ea typeface="Microsoft YaHei"/>
              </a:rPr>
              <a:t>实现可核对、可追溯的加工指令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12 / 17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14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技术方案&lt;/Text&gt;&#10;    &lt;/Box&gt;&#10;&#10;    {/* 左标题栏 + 右表格 */}&#10;    &lt;Box style={{ flex: 1, flexDirection: 'row', paddingLeft: 40, paddingRight: 40, paddingTop: 28, paddingBottom: 16, gap: 40 }}&gt;&#10;      {/* 左标题栏 */}&#10;      &lt;Box style={{ width: 300, flexDirection: 'column', justifyContent: 'space-between', gap: 16 }}&gt;&#10;        &lt;Box style={{ flexDirection: 'column', gap: 16 }}&gt;&#10;          &lt;Box style={{ width: 48, height: 4, background: '#3D7BD9', borderRadius: 2 }} /&gt;&#10;          &lt;Text style={{ color: '#1A2230', fontSize: 34, fontWeight: 'bold', lineHeight: 1.3 }}&gt;技术选型&lt;/Text&gt;&#10;          &lt;Text style={{ color: '#8B97A8', fontSize: 16, lineHeight: 1.5 }}&gt;全部基于开源、轻量组件，普通设备即可运行&lt;/Text&gt;&#10;        &lt;/Box&gt;&#10;        &lt;Box style={{ padding: 18, background: '#0E3F8C', borderRadius: 8 }}&gt;&#10;          &lt;Text style={{ color: '#FFFFFF', fontSize: 18, fontWeight: 'bold' }}&gt;选型原则&lt;/Text&gt;&#10;          &lt;Text style={{ color: '#D6E4F7', fontSize: 15, lineHeight: 1.6, marginTop: 8 }}&gt;&#10;            轻量、开源、零运维，契合「轻量级」定位，可平滑替换为企业内部知识库。&#10;          &lt;/Text&gt;&#10;        &lt;/Box&gt;&#10;      &lt;/Box&gt;&#10;&#10;      {/* 右：选型表 + 底部说明 */}&#10;      &lt;Box style={{ flex: 1, flexDirection: 'column', justifyContent: 'space-between' }}&gt;&#10;        &lt;Table&#10;          style={{ width: '100%', height: 440 }}&#10;          defaultTextStyle={{ fontSize: 17, textAlign: 'center', color: '#1A2230' }}&#10;          defaultCellStyle={{&#10;            border: {&#10;              left: { width: 1, color: '#D6DCE5' },&#10;              right: { width: 1, color: '#D6DCE5' },&#10;              top: { width: 1, color: '#D6DCE5' },&#10;              bottom: { width: 1, color: '#D6DCE5' },&#10;            },&#10;          }}&#10;          cells={[&#10;            [&#10;              { text: '模块', textStyle: { bold: true, color: '#FFFFFF' }, cellStyle: { background: { color: '#1E4FA8' } } },&#10;              { text: '技术选型', textStyle: { bold: true, color: '#FFFFFF' }, cellStyle: { background: { color: '#1E4FA8' } } },&#10;            ],&#10;            ['编程语言', 'Python 3.10+'],&#10;            ['RAG 框架', 'LangChain'],&#10;            ['向量数据库', 'Chroma'],&#10;            ['稀疏检索', 'rank_bm25（BM25）'],&#10;            ['嵌入模型', 'BGE-M3'],&#10;            ['重排序', 'bge-reranker-v2-m3'],&#10;            ['PDF 解析', 'PyMuPDF + pdfplumber'],&#10;            ['大模型', '开源大模型 API（OpenAI 兼容）'],&#10;            ['界面', 'Gradio'],&#10;            ['版本管理', 'Git + GitHub'],&#10;          ]}&#10;        /&gt;&#10;        &lt;Box style={{ flexDirection: 'row', alignItems: 'center', gap: 12, padding: 14, background: '#F0F5FC', borderRadius: 8 }}&gt;&#10;          &lt;Box style={{ width: 8, height: 8, background: '#1E4FA8', borderRadius: 4 }} /&gt;&#10;          &lt;Text style={{ color: '#4A5568', fontSize: 15, lineHeight: 1.5 }}&gt;嵌入与重排模型支持 API 或本地部署两种方式，可做对比实验&lt;/Text&gt;&#10;        &lt;/Box&gt;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13 / 17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381000" y="9525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28575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技术选型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381000" y="1809750"/>
            <a:ext cx="2857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全部基于开源、轻量组件，普通设备即可运行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81000" y="5143500"/>
            <a:ext cx="2857500" cy="1181100"/>
          </a:xfrm>
          <a:prstGeom prst="roundRect">
            <a:avLst>
              <a:gd name="adj" fmla="val 645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552450" y="5314950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选型原则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52450" y="5600700"/>
            <a:ext cx="2514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轻量、开源、零运维，契合「轻量级」定位，可平滑替换为企业内部知识库。</a:t>
            </a:r>
            <a:endParaRPr/>
          </a:p>
        </p:txBody>
      </p:sp>
      <p:graphicFrame>
        <p:nvGraphicFramePr>
          <p:cNvPr id="125" name=""/>
          <p:cNvGraphicFramePr/>
          <p:nvPr/>
        </p:nvGraphicFramePr>
        <p:xfrm rot="0" flipH="0" flipV="0">
          <a:off x="3619500" y="952500"/>
          <a:ext cx="8191500" cy="4191000"/>
        </p:xfrm>
        <a:graphic>
          <a:graphicData uri="http://schemas.openxmlformats.org/drawingml/2006/table">
            <a:tbl>
              <a:tblGrid>
                <a:gridCol w="2169417">
                  <a:extLst>
                    <a:ext uri="{9D8B030D-6E8A-4147-A177-3AD203B41FA5}">
                      <a16:colId val="1"/>
                    </a:ext>
                  </a:extLst>
                </a:gridCol>
                <a:gridCol w="6022083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模块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技术选型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编程语言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Python 3.10+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RAG 框架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LangChain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向量数据库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Chroma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稀疏检索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rank_bm25（BM25）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嵌入模型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BGE-M3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重排序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bge-reranker-v2-m3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PDF 解析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PyMuPDF + pdfplumber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大模型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开源大模型 API（OpenAI 兼容）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界面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Gradio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版本管理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Git + GitHub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</a:tbl>
          </a:graphicData>
        </a:graphic>
      </p:graphicFrame>
      <p:sp>
        <p:nvSpPr>
          <p:cNvPr id="126" name=""/>
          <p:cNvSpPr/>
          <p:nvPr/>
        </p:nvSpPr>
        <p:spPr>
          <a:xfrm rot="0" flipH="0" flipV="0">
            <a:off x="3619500" y="5800725"/>
            <a:ext cx="8191500" cy="523875"/>
          </a:xfrm>
          <a:prstGeom prst="roundRect">
            <a:avLst>
              <a:gd name="adj" fmla="val 1454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7" name=""/>
          <p:cNvSpPr/>
          <p:nvPr/>
        </p:nvSpPr>
        <p:spPr>
          <a:xfrm rot="0" flipH="0" flipV="0">
            <a:off x="3752850" y="60293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3943350" y="5934075"/>
            <a:ext cx="38957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嵌入与重排模型支持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或本地部署两种方式，可做对比实验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13 / 17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31" name="" descr="&lt;Slide&gt;&#10;  &lt;Box style={{ width: '1280px', height: '720px', background: '#FFFFFF', flexDirection: 'row', alignItems: 'center' }}&gt;&#10;    {/* 左侧大数字 */}&#10;    &lt;Box style={{ width: 360, height: 720, background: '#F0F5FC', alignItems: 'center', justifyContent: 'center' }}&gt;&#10;      &lt;Text style={{ color: '#0E3F8C', fontSize: 200, fontWeight: 'bold', lineHeight: 1 }}&gt;03&lt;/Text&gt;&#10;    &lt;/Box&gt;&#10;&#10;    {/* 右侧标题与要点 */}&#10;    &lt;Box style={{ flex: 1, height: 720, flexDirection: 'column', justifyContent: 'center', paddingLeft: 72, paddingRight: 60, gap: 24 }}&gt;&#10;      &lt;Box style={{ width: 48, height: 4, background: '#3D7BD9', borderRadius: 2 }} /&gt;&#10;      &lt;Text style={{ color: '#1A2230', fontSize: 48, fontWeight: 'bold' }}&gt;开发方法与测试&lt;/Text&gt;&#10;      &lt;Text style={{ color: '#8B97A8', fontSize: 20, letterSpacing: 1 }}&gt;模块化迭代开发 · 四类测试方案&lt;/Text&gt;&#10;&#10;      &lt;Box style={{ flexDirection: 'column', gap: 24, marginTop: 16 }}&gt;&#10;        {[&#10;          { t: '模块化、迭代式开发', d: '按解析建库 → 检索重排 → 生成对话 → 溯源界面 → 测试评估 分阶段推进，先单测后集成' },&#10;          { t: '功能测试', d: '验证 PDF 解析、表格抽取、混合检索、重排序、生成、溯源各模块正确性' },&#10;          { t: '多文档测试 + 人工评估', d: '构建典型工艺问题测试集，由评估人员对相关性、正确性、引用准确性打分' },&#10;          { t: '对比实验', d: '比较仅向量 / 向量+BM25 / 混合+重排 的召回与生成效果，分析各模块贡献' },&#10;        ].map((item, idx) =&gt; (&#10;          &lt;Box key={idx} style={{ flexDirection: 'row', alignItems: 'flex-start', gap: 16 }}&gt;&#10;            &lt;Box style={{ width: 8, height: 8, background: '#1E4FA8', borderRadius: 4, marginTop: 10 }} /&gt;&#10;            &lt;Box style={{ flexDirection: 'column', gap: 4 }}&gt;&#10;              &lt;Text style={{ color: '#1A2230', fontSize: 22, fontWeight: 'bold' }}&gt;{item.t}&lt;/Text&gt;&#10;              &lt;Text style={{ color: '#4A5568', fontSize: 18, lineHeight: 1.5 }}&gt;{item.d}&lt;/Text&gt;&#10;            &lt;/Box&gt;&#10;          &lt;/Box&gt;&#10;        ))}&#10;      &lt;/Box&gt;&#10;&#10;      &lt;Box style={{ flexDirection: 'row', alignItems: 'center', gap: 12, padding: 16, background: '#F0F5FC', borderRadius: 8, marginTop: 8 }}&gt;&#10;        &lt;Box style={{ width: 8, height: 8, background: '#1E4FA8', borderRadius: 4 }} /&gt;&#10;        &lt;Text style={{ color: '#1E4FA8', fontSize: 16, fontWeight: 'bold' }}&gt;评估结果用于反哺优化解析、分块与检索策略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0" y="0"/>
            <a:ext cx="3429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542925" y="2286000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0E3F8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114800" y="638175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4114800" y="904875"/>
            <a:ext cx="75057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>
                <a:solidFill>
                  <a:srgbClr val="1A2230"/>
                </a:solidFill>
                <a:latin typeface="Microsoft YaHei"/>
                <a:ea typeface="Microsoft YaHei"/>
              </a:rPr>
              <a:t>开发方法与测试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4114800" y="1685925"/>
            <a:ext cx="7505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模块化迭代开发</a:t>
            </a:r>
            <a:r>
              <a:rPr lang="en-US" sz="1500" spc="7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四类测试方案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4114800" y="23907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343400" y="2295525"/>
            <a:ext cx="680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模块化、迭代式开发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343400" y="2590800"/>
            <a:ext cx="68008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按解析建库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检索重排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生成对话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溯源界面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测试评估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分阶段推进，先单测后集成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4114800" y="32289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343400" y="3133725"/>
            <a:ext cx="5572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功能测试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343400" y="3429000"/>
            <a:ext cx="55721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验证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PDF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解析、表格抽取、混合检索、重排序、生成、溯源各模块正确性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4114800" y="40671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343400" y="3971925"/>
            <a:ext cx="5657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多文档测试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人工评估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4343400" y="4267200"/>
            <a:ext cx="56578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构建典型工艺问题测试集，由评估人员对相关性、正确性、引用准确性打分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4114800" y="49053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4343400" y="4810125"/>
            <a:ext cx="5762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对比实验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4343400" y="5105400"/>
            <a:ext cx="57626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比较仅向量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向量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+BM25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混合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+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重排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的召回与生成效果，分析各模块贡献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4114800" y="5724525"/>
            <a:ext cx="7505700" cy="495300"/>
          </a:xfrm>
          <a:prstGeom prst="roundRect">
            <a:avLst>
              <a:gd name="adj" fmla="val 1538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1" name=""/>
          <p:cNvSpPr/>
          <p:nvPr/>
        </p:nvSpPr>
        <p:spPr>
          <a:xfrm rot="0" flipH="0" flipV="0">
            <a:off x="426720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457700" y="5876925"/>
            <a:ext cx="3048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评估结果用于反哺优化解析、分块与检索策略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3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方法进度&lt;/Text&gt;&#10;    &lt;/Box&gt;&#10;&#10;    {/* 主标题 */}&#10;    &lt;Box style={{ paddingLeft: 40, paddingRight: 40, paddingTop: 22, paddingBottom: 8 }}&gt;&#10;      &lt;Text style={{ color: '#1A2230', fontSize: 34, fontWeight: 'bold' }}&gt;进度安排（2026.10 — 2027.06）&lt;/Text&gt;&#10;    &lt;/Box&gt;&#10;&#10;    {/* 上：时间轴大图 */}&#10;    &lt;Box style={{ paddingLeft: 40, paddingRight: 40, paddingTop: 8 }}&gt;&#10;      &lt;svg width={1200} height={250} viewBox='0 0 1200 250'&gt;&#10;        {/* 时间轴线 */}&#10;        &lt;line x1='20' y1='85' x2='1180' y2='85' stroke='#3D7BD9' strokeWidth='3' /&gt;&#10;        {/* 7 个阶段节点 */}&#10;        &lt;g font-size='14' fill='#1A2230' text-anchor='middle'&gt;&#10;          {[&#10;            { x: 80, t: '文献调研\n需求分析', d: '2026.10-11', done: true },&#10;            { x: 265, t: '解析建库', d: '2026.11-12', done: false },&#10;            { x: 450, t: '检索重排', d: '2026.12-01', done: false },&#10;            { x: 635, t: '生成对话', d: '2027.02-03', done: false },&#10;            { x: 820, t: '溯源界面', d: '2027.03-04', done: false },&#10;            { x: 1005, t: '测试优化', d: '2027.04-05', done: false },&#10;            { x: 1135, t: '结题答辩', d: '2027.05-06', done: false },&#10;          ].map((s) =&gt; (&#10;            &lt;g key={s.x}&gt;&#10;              &lt;circle cx={s.x} cy='85' r='13' fill={s.done ? '#1E4FA8' : '#FFFFFF'} stroke='#1E4FA8' strokeWidth='3' /&gt;&#10;              {s.done &amp;&amp; &lt;circle cx={s.x} cy='85' r='5' fill='#FFFFFF' /&gt;}&#10;              &lt;text x={s.x} y='57' font-size='14' font-weight='bold' fill='#0E3F8C'&gt;{s.d.split(' ')[0]}&lt;/text&gt;&#10;              &lt;text x={s.x} y='133' font-size='15' font-weight='bold'&gt;{s.t.split('\n')[0]}&lt;/text&gt;&#10;              &lt;text x={s.x} y='155' font-size='14' fill='#8B97A8'&gt;{s.t.split('\n')[1]}&lt;/text&gt;&#10;            &lt;/g&gt;&#10;          ))}&#10;        &lt;/g&gt;&#10;        {/* 当前阶段标记 + 成果说明 */}&#10;        &lt;rect x='30' y='186' width='130' height='30' rx='15' fill='#E8EFF8' /&gt;&#10;        &lt;text x='95' y='206' font-size='13' fill='#1E4FA8' text-anchor='middle' font-weight='bold'&gt;当前：第 1 阶段&lt;/text&gt;&#10;        &lt;text x='180' y='206' font-size='15' fill='#4A5568'&gt;每阶段成果：开题报告 → 知识库 → 检索评测 → 问答原型 → 可演示系统 → 评估报告 → 结题文档&lt;/text&gt;&#10;      &lt;/svg&gt;&#10;    &lt;/Box&gt;&#10;&#10;    {/* 下方结论条 + 三列成果预览 */}&#10;    &lt;Box style={{ paddingLeft: 40, paddingRight: 40, paddingTop: 16, flex: 1, flexDirection: 'column', gap: 14 }}&gt;&#10;      &lt;Box style={{ flexDirection: 'row', alignItems: 'center', gap: 16, padding: 18, background: '#F0F5FC', borderRadius: 10 }}&gt;&#10;        &lt;Box style={{ width: 44, height: 44, background: '#1E4FA8', borderRadius: 8, alignItems: 'center', justifyContent: 'center' }}&gt;&#10;          &lt;Text style={{ color: '#FFFFFF', fontSize: 18, fontWeight: 'bold' }}&gt;7&lt;/Text&gt;&#10;        &lt;/Box&gt;&#10;        &lt;Box style={{ flex: 1, flexDirection: 'column', gap: 4 }}&gt;&#10;          &lt;Text style={{ color: '#1A2230', fontSize: 20, fontWeight: 'bold' }}&gt;七个阶段 · 阶段性成果可验收&lt;/Text&gt;&#10;          &lt;Text style={{ color: '#4A5568', fontSize: 16, lineHeight: 1.5 }}&gt;当前已完成第 1 阶段（文献调研、需求分析、开题报告、GitHub 仓库），即将进入第 2 阶段解析与离线建库&lt;/Text&gt;&#10;        &lt;/Box&gt;&#10;      &lt;/Box&gt;&#10;      &lt;Box style={{ flexDirection: 'row', gap: 16, flex: 1 }}&gt;&#10;        {[&#10;          { t: '阶段 1-2', s: '开题 · 建库', d: '文献调研与需求分析、开题报告、PDF 解析与知识库构建' },&#10;          { t: '阶段 3-4', s: '检索 · 原型', d: '混合检索与重排序、生成与多轮对话、可运行问答原型' },&#10;          { t: '阶段 5-7', s: '系统 · 结题', d: '溯源与界面、多文档测试评估、结题报告与答辩' },&#10;        ].map((item) =&gt; (&#10;          &lt;Box key={item.t} style={{ flex: 1, flexDirection: 'column', gap: 8, padding: 20, background: '#F7F9FC', borderRadius: 10, border: '1px solid #E5E7EB' }}&gt;&#10;            &lt;Box style={{ flexDirection: 'row', alignItems: 'center', gap: 8 }}&gt;&#10;              &lt;Text style={{ color: '#1E4FA8', fontSize: 18, fontWeight: 'bold' }}&gt;{item.t}&lt;/Text&gt;&#10;              &lt;Box style={{ paddingLeft: 8, paddingRight: 8, paddingTop: 2, paddingBottom: 2, background: '#E8EFF8', borderRadius: 4 }}&gt;&#10;                &lt;Text style={{ color: '#1E4FA8', fontSize: 13 }}&gt;{item.s}&lt;/Text&gt;&#10;              &lt;/Box&gt;&#10;            &lt;/Box&gt;&#10;            &lt;Text style={{ color: '#4A5568', fontSize: 15, lineHeight: 1.6 }}&gt;{item.d}&lt;/Text&gt;&#10;          &lt;/Box&gt;&#10;        ))}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15 / 17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方法进度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进度安排（</a:t>
            </a:r>
            <a:r>
              <a:rPr lang="en-US" sz="2550" b="1">
                <a:solidFill>
                  <a:srgbClr val="1A2230"/>
                </a:solidFill>
                <a:latin typeface="Microsoft YaHei"/>
                <a:ea typeface="Microsoft YaHei"/>
              </a:rPr>
              <a:t>2026.10 — 2027.06</a:t>
            </a: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pic>
        <p:nvPicPr>
          <p:cNvPr id="1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438275"/>
            <a:ext cx="11430000" cy="2381250"/>
          </a:xfrm>
          <a:prstGeom prst="rect">
            <a:avLst/>
          </a:prstGeom>
          <a:ln/>
        </p:spPr>
      </p:pic>
      <p:sp>
        <p:nvSpPr>
          <p:cNvPr id="160" name=""/>
          <p:cNvSpPr/>
          <p:nvPr/>
        </p:nvSpPr>
        <p:spPr>
          <a:xfrm rot="0" flipH="0" flipV="0">
            <a:off x="381000" y="3971925"/>
            <a:ext cx="11430000" cy="885825"/>
          </a:xfrm>
          <a:prstGeom prst="roundRect">
            <a:avLst>
              <a:gd name="adj" fmla="val 1075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552450" y="4210050"/>
            <a:ext cx="419100" cy="41910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04850" y="4314825"/>
            <a:ext cx="11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1123950" y="4143375"/>
            <a:ext cx="10515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七个阶段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阶段性成果可验收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1123950" y="4410075"/>
            <a:ext cx="105156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当前已完成第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阶段（文献调研、需求分析、开题报告、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GitHub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仓库），即将进入第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阶段解析与离线建库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381000" y="4991100"/>
            <a:ext cx="3705225" cy="1485900"/>
          </a:xfrm>
          <a:prstGeom prst="roundRect">
            <a:avLst>
              <a:gd name="adj" fmla="val 641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571500" y="51816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阶段</a:t>
            </a: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1-2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1333500" y="5191125"/>
            <a:ext cx="752475" cy="190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1409700" y="5210175"/>
            <a:ext cx="600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开题</a:t>
            </a:r>
            <a:r>
              <a:rPr lang="en-US" sz="975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建库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571500" y="5467350"/>
            <a:ext cx="33242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文献调研与需求分析、开题报告、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PDF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解析与知识库构建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4238625" y="4991100"/>
            <a:ext cx="3714750" cy="1485900"/>
          </a:xfrm>
          <a:prstGeom prst="roundRect">
            <a:avLst>
              <a:gd name="adj" fmla="val 641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4429125" y="51816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阶段</a:t>
            </a: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3-4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5191125" y="5191125"/>
            <a:ext cx="752475" cy="190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5267325" y="5210175"/>
            <a:ext cx="600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检索</a:t>
            </a:r>
            <a:r>
              <a:rPr lang="en-US" sz="975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原型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4429125" y="5467350"/>
            <a:ext cx="3333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混合检索与重排序、生成与多轮对话、可运行问答原型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8105775" y="4991100"/>
            <a:ext cx="3705225" cy="1485900"/>
          </a:xfrm>
          <a:prstGeom prst="roundRect">
            <a:avLst>
              <a:gd name="adj" fmla="val 641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8296275" y="51816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阶段</a:t>
            </a: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5-7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9058275" y="5191125"/>
            <a:ext cx="752475" cy="190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9134475" y="5210175"/>
            <a:ext cx="600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系统</a:t>
            </a:r>
            <a:r>
              <a:rPr lang="en-US" sz="975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结题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8296275" y="5467350"/>
            <a:ext cx="332422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溯源与界面、多文档测试评估、结题报告与答辩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15 / 17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82" name="" descr="&lt;Slide&gt;&#10;  &lt;Box style={{ width: '1280px', height: '720px', background: '#FFFFFF', flexDirection: 'row', alignItems: 'center' }}&gt;&#10;    {/* 左侧大数字 */}&#10;    &lt;Box style={{ width: 360, height: 720, background: '#F0F5FC', alignItems: 'center', justifyContent: 'center', flexDirection: 'column', gap: 20 }}&gt;&#10;      &lt;Text style={{ color: '#8B97A8', fontSize: 18, letterSpacing: 4 }}&gt;CHAPTER&lt;/Text&gt;&#10;      &lt;Text style={{ color: '#0E3F8C', fontSize: 200, fontWeight: 'bold', lineHeight: 1 }}&gt;04&lt;/Text&gt;&#10;      &lt;Text style={{ color: '#8B97A8', fontSize: 16, letterSpacing: 2 }}&gt;预期成果 · 交付物&lt;/Text&gt;&#10;    &lt;/Box&gt;&#10;&#10;    {/* 右侧标题与要点 */}&#10;    &lt;Box style={{ flex: 1, height: 720, flexDirection: 'column', justifyContent: 'space-between', paddingTop: 48, paddingBottom: 48, paddingLeft: 72, paddingRight: 60 }}&gt;&#10;      &lt;Box style={{ flexDirection: 'column', gap: 14 }}&gt;&#10;        &lt;Box style={{ width: 48, height: 4, background: '#3D7BD9', borderRadius: 2 }} /&gt;&#10;        &lt;Text style={{ color: '#1A2230', fontSize: 44, fontWeight: 'bold' }}&gt;预期成果&lt;/Text&gt;&#10;        &lt;Text style={{ color: '#8B97A8', fontSize: 19, letterSpacing: 1 }}&gt;五项可验收成果&lt;/Text&gt;&#10;      &lt;/Box&gt;&#10;&#10;      &lt;Box style={{ flexDirection: 'column', gap: 12 }}&gt;&#10;        {[&#10;          { n: '1', t: '可运行系统', d: '覆盖解析、混合检索、重排、多轮对话、引用溯源，提供 Web 界面' },&#10;          { n: '2', t: '结构化加工指令', d: '参数忠实于资料、可定位原文页码，支持资料不足时的安全提示' },&#10;          { n: '3', t: '源码与工程文档', d: '代码托管 GitHub，模块结构清晰、附使用说明' },&#10;          { n: '4', t: '评估报告', d: '多文档测试问题集、人工评估结果、检索策略对比实验' },&#10;          { n: '5', t: '结题与技术报告', d: '总结系统设计、关键技术与改进方向' },&#10;        ].map((item) =&gt; (&#10;          &lt;Box key={item.n} style={{ flexDirection: 'row', alignItems: 'center', gap: 14, padding: 13, background: '#F7F9FC', borderRadius: 10, border: '1px solid #E5E7EB' }}&gt;&#10;            &lt;Box style={{ width: 32, height: 32, background: '#1E4FA8', borderRadius: 8, alignItems: 'center', justifyContent: 'center' }}&gt;&#10;              &lt;Text style={{ color: '#FFFFFF', fontSize: 16, fontWeight: 'bold' }}&gt;{item.n}&lt;/Text&gt;&#10;            &lt;/Box&gt;&#10;            &lt;Box style={{ flex: 1, flexDirection: 'column', gap: 3 }}&gt;&#10;              &lt;Text style={{ color: '#1A2230', fontSize: 19, fontWeight: 'bold' }}&gt;{item.t}&lt;/Text&gt;&#10;              &lt;Text style={{ color: '#4A5568', fontSize: 15, lineHeight: 1.45 }}&gt;{item.d}&lt;/Text&gt;&#10;            &lt;/Box&gt;&#10;          &lt;/Box&gt;&#10;        ))}&#10;      &lt;/Box&gt;&#10;&#10;      &lt;Box style={{ flexDirection: 'row', alignItems: 'center', gap: 12, padding: 14, background: '#0E3F8C', borderRadius: 8 }}&gt;&#10;        &lt;Box style={{ width: 8, height: 8, background: '#3D7BD9', borderRadius: 4 }} /&gt;&#10;        &lt;Text style={{ color: '#FFFFFF', fontSize: 16, fontWeight: 'bold' }}&gt;覆盖选题五条要求的完整闭环，成果可演示、可验收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0" y="0"/>
            <a:ext cx="3429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1190625" y="1895475"/>
            <a:ext cx="1047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00">
                <a:solidFill>
                  <a:srgbClr val="8B97A8"/>
                </a:solidFill>
                <a:latin typeface="Microsoft YaHei"/>
                <a:ea typeface="Microsoft YaHei"/>
              </a:rPr>
              <a:t>CHAPTER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542925" y="2295525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0E3F8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019175" y="4772025"/>
            <a:ext cx="139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B97A8"/>
                </a:solidFill>
                <a:latin typeface="Microsoft YaHei"/>
                <a:ea typeface="Microsoft YaHei"/>
              </a:rPr>
              <a:t>预期成果</a:t>
            </a:r>
            <a:r>
              <a:rPr lang="en-US" sz="1200" spc="1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spc="150">
                <a:solidFill>
                  <a:srgbClr val="8B97A8"/>
                </a:solidFill>
                <a:latin typeface="Microsoft YaHei"/>
                <a:ea typeface="Microsoft YaHei"/>
              </a:rPr>
              <a:t>交付物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4114800" y="4572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4114800" y="628650"/>
            <a:ext cx="75057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4114800" y="1266825"/>
            <a:ext cx="7505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spc="75">
                <a:solidFill>
                  <a:srgbClr val="8B97A8"/>
                </a:solidFill>
                <a:latin typeface="Microsoft YaHei"/>
                <a:ea typeface="Microsoft YaHei"/>
              </a:rPr>
              <a:t>五项可验收成果</a:t>
            </a:r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4114800" y="1609725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4238625" y="18383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343400" y="18954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676775" y="1733550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可运行系统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676775" y="1981200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覆盖解析、混合检索、重排、多轮对话、引用溯源，提供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界面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4114800" y="2476500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4238625" y="2705100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343400" y="276225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4676775" y="2600325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结构化加工指令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676775" y="2847975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参数忠实于资料、可定位原文页码，支持资料不足时的安全提示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4114800" y="3343275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2" name=""/>
          <p:cNvSpPr/>
          <p:nvPr/>
        </p:nvSpPr>
        <p:spPr>
          <a:xfrm rot="0" flipH="0" flipV="0">
            <a:off x="4238625" y="35718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4343400" y="362902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4676775" y="3467100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源码与工程文档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4676775" y="3714750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代码托管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GitHub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，模块结构清晰、附使用说明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4114800" y="4210050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7" name=""/>
          <p:cNvSpPr/>
          <p:nvPr/>
        </p:nvSpPr>
        <p:spPr>
          <a:xfrm rot="0" flipH="0" flipV="0">
            <a:off x="4238625" y="4438650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343400" y="44958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4676775" y="4333875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评估报告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676775" y="4581525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多文档测试问题集、人工评估结果、检索策略对比实验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4114800" y="5076825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2" name=""/>
          <p:cNvSpPr/>
          <p:nvPr/>
        </p:nvSpPr>
        <p:spPr>
          <a:xfrm rot="0" flipH="0" flipV="0">
            <a:off x="4238625" y="53054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4343400" y="53625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4676775" y="5200650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结题与技术报告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676775" y="5448300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总结系统设计、关键技术与改进方向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4114800" y="5943600"/>
            <a:ext cx="7505700" cy="4572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7" name=""/>
          <p:cNvSpPr/>
          <p:nvPr/>
        </p:nvSpPr>
        <p:spPr>
          <a:xfrm rot="0" flipH="0" flipV="0">
            <a:off x="4248150" y="61341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4438650" y="6076950"/>
            <a:ext cx="3505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覆盖选题五条要求的完整闭环，成果可演示、可验收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19" name="" descr="&lt;Slide&gt;&#10;  &lt;Box style={{ width: '1280px', height: '720px', background: '#0E3F8C', position: 'relative', overflow: 'hidden', alignItems: 'center', justifyContent: 'center' }}&gt;&#10;    {/* 背景装饰节点线稿 */}&#10;    &lt;Box style={{ position: 'absolute', top: 0, left: 0, width: 1280, height: 720, opacity: 0.10 }}&gt;&#10;      &lt;svg width={1280} height={720} viewBox='0 0 1280 720'&gt;&#10;        &lt;g stroke='#FFFFFF' strokeWidth='1.5' fill='none'&gt;&#10;          &lt;circle cx='150' cy='180' r='50' /&gt;&#10;          &lt;circle cx='480' cy='120' r='65' /&gt;&#10;          &lt;circle cx='820' cy='220' r='45' /&gt;&#10;          &lt;circle cx='1080' cy='150' r='55' /&gt;&#10;          &lt;circle cx='250' cy='520' r='60' /&gt;&#10;          &lt;circle cx='620' cy='580' r='50' /&gt;&#10;          &lt;circle cx='980' cy='520' r='65' /&gt;&#10;          &lt;path d='M150 180 L480 120 L820 220 L1080 150' /&gt;&#10;          &lt;path d='M480 120 L620 580 L250 520 Z' /&gt;&#10;          &lt;path d='M820 220 L980 520 L620 580' /&gt;&#10;          &lt;path d='M150 180 L250 520 M1080 150 L980 520' /&gt;&#10;        &lt;/g&gt;&#10;        &lt;g fill='#FFFFFF'&gt;&#10;          &lt;circle cx='150' cy='180' r='5' /&gt;&#10;          &lt;circle cx='480' cy='120' r='6' /&gt;&#10;          &lt;circle cx='820' cy='220' r='4' /&gt;&#10;          &lt;circle cx='1080' cy='150' r='5' /&gt;&#10;          &lt;circle cx='250' cy='520' r='5' /&gt;&#10;          &lt;circle cx='620' cy='580' r='4' /&gt;&#10;          &lt;circle cx='980' cy='520' r='6' /&gt;&#10;        &lt;/g&gt;&#10;      &lt;/svg&gt;&#10;    &lt;/Box&gt;&#10;&#10;    {/* 顶部信息 */}&#10;    &lt;Box style={{ position: 'absolute', top: 48, left: 0, right: 0, alignItems: 'center' }}&gt;&#10;      &lt;Text style={{ color: '#8FB3E8', fontSize: 16, letterSpacing: 2 }}&gt;中国科学技术大学软件学院 · 软件工程实践&lt;/Text&gt;&#10;    &lt;/Box&gt;&#10;&#10;    {/* 中央内容 */}&#10;    &lt;Box style={{ flexDirection: 'column', alignItems: 'center', gap: 32 }}&gt;&#10;      &lt;Box style={{ width: 78, height: 4, background: '#3D7BD9', borderRadius: 2 }} /&gt;&#10;      &lt;Text style={{ color: '#FFFFFF', fontSize: 64, fontWeight: 'bold', letterSpacing: 4 }}&gt;感谢聆听&lt;/Text&gt;&#10;      &lt;Text style={{ color: '#8FB3E8', fontSize: 24, letterSpacing: 2 }}&gt;恳请各位老师批评指正&lt;/Text&gt;&#10;      &lt;Box style={{ flexDirection: 'row', alignItems: 'center', gap: 24, marginTop: 16 }}&gt;&#10;        &lt;Text style={{ color: '#D6E4F7', fontSize: 18 }}&gt;熊佳昀 · 齐梦伟 · 张承伟 · 资唯&lt;/Text&gt;&#10;        &lt;Box style={{ width: 1, height: 20, background: 'rgba(255,255,255,0.3)' }} /&gt;&#10;        &lt;Text style={{ color: '#D6E4F7', fontSize: 18 }}&gt;指导教师 丁箐&lt;/Text&gt;&#10;      &lt;/Box&gt;&#10;    &lt;/Box&gt;&#10;&#10;    {/* 底部单位信息 */}&#10;    &lt;Box style={{ position: 'absolute', bottom: 48, left: 0, right: 0, alignItems: 'center' }}&gt;&#10;      &lt;Text style={{ color: '#8FB3E8', fontSize: 16, letterSpacing: 2 }}&gt;2026 年 10 月 · 开题答辩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1" name=""/>
          <p:cNvSpPr/>
          <p:nvPr/>
        </p:nvSpPr>
        <p:spPr>
          <a:xfrm rot="0" flipH="0" flipV="0">
            <a:off x="5724525" y="2266950"/>
            <a:ext cx="74295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4800600" y="2609850"/>
            <a:ext cx="25908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800" b="1" spc="300">
                <a:solidFill>
                  <a:srgbClr val="FFFFFF"/>
                </a:solidFill>
                <a:latin typeface="Microsoft YaHei"/>
                <a:ea typeface="Microsoft YaHei"/>
              </a:rPr>
              <a:t>感谢聆听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4857750" y="3648075"/>
            <a:ext cx="2476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spc="150">
                <a:solidFill>
                  <a:srgbClr val="8FB3E8"/>
                </a:solidFill>
                <a:latin typeface="Microsoft YaHei"/>
                <a:ea typeface="Microsoft YaHei"/>
              </a:rPr>
              <a:t>恳请各位老师批评指正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4162425" y="4381500"/>
            <a:ext cx="2314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熊佳昀</a:t>
            </a:r>
            <a:r>
              <a:rPr lang="en-US" sz="1350">
                <a:solidFill>
                  <a:srgbClr val="D6E4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齐梦伟</a:t>
            </a:r>
            <a:r>
              <a:rPr lang="en-US" sz="1350">
                <a:solidFill>
                  <a:srgbClr val="D6E4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张承伟</a:t>
            </a:r>
            <a:r>
              <a:rPr lang="en-US" sz="1350">
                <a:solidFill>
                  <a:srgbClr val="D6E4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资唯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6705600" y="4391025"/>
            <a:ext cx="9525" cy="190500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943725" y="4381500"/>
            <a:ext cx="1085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指导教师</a:t>
            </a:r>
            <a:r>
              <a:rPr lang="en-US" sz="1350">
                <a:solidFill>
                  <a:srgbClr val="D6E4F7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丁箐</a:t>
            </a:r>
            <a:endParaRPr/>
          </a:p>
        </p:txBody>
      </p:sp>
      <p:pic>
        <p:nvPicPr>
          <p:cNvPr id="227" name=""/>
          <p:cNvPicPr>
            <a:picLocks noChangeAspect="1"/>
          </p:cNvPicPr>
          <p:nvPr/>
        </p:nvPicPr>
        <p:blipFill>
          <a:blip>
            <a:alphaModFix amt="10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4457700" y="457200"/>
            <a:ext cx="327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中国科学技术大学软件学院</a:t>
            </a:r>
            <a:r>
              <a:rPr lang="en-US" sz="1200" spc="150">
                <a:solidFill>
                  <a:srgbClr val="8FB3E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软件工程实践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5067300" y="6210300"/>
            <a:ext cx="2057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8FB3E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年</a:t>
            </a:r>
            <a:r>
              <a:rPr lang="en-US" sz="1200" spc="150">
                <a:solidFill>
                  <a:srgbClr val="8FB3E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月</a:t>
            </a:r>
            <a:r>
              <a:rPr lang="en-US" sz="1200" spc="150">
                <a:solidFill>
                  <a:srgbClr val="8FB3E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开题答辩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2026-10-29T22:41:52Z</dcterms:created>
  <dcterms:modified xsi:type="dcterms:W3CDTF">2026-10-29T22:41:52Z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{"AIGC":{"Label":"1","ContentProducer":"00119111010856365494821B355","ProduceID":"01a18817eec87ee6bc93801bd22fb162","ReservedCode1":"","ContentPropagator":"00119111010856365494821B355","PropagateID":"01a18817eec87ee6bc93801bd22fb162","ReservedCode2":""}}</vt:lpwstr>
  </property>
</Properties>
</file>