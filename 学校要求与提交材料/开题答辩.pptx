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5" Type="http://schemas.openxmlformats.org/officeDocument/2006/relationships/slide" Target="slides/slide15.xml" /><Relationship Id="rId13" Type="http://schemas.openxmlformats.org/officeDocument/2006/relationships/slide" Target="slides/slide13.xml" /><Relationship Id="rId9" Type="http://schemas.openxmlformats.org/officeDocument/2006/relationships/slide" Target="slides/slide9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4" Type="http://schemas.openxmlformats.org/officeDocument/2006/relationships/slide" Target="slides/slide14.xml" /><Relationship Id="rId12" Type="http://schemas.openxmlformats.org/officeDocument/2006/relationships/slide" Target="slides/slide12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8" Type="http://schemas.openxmlformats.org/officeDocument/2006/relationships/slide" Target="slides/slide8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0" y="0"/>
            <a:ext cx="6667500" cy="68580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571500" y="457200"/>
            <a:ext cx="228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150">
                <a:solidFill>
                  <a:srgbClr val="8FB3E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9963150" y="466725"/>
            <a:ext cx="165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B3E8"/>
                </a:solidFill>
                <a:latin typeface="Microsoft YaHei"/>
                <a:ea typeface="Microsoft YaHei"/>
              </a:rPr>
              <a:t>软件工程实践</a:t>
            </a:r>
            <a:r>
              <a:rPr lang="en-US" sz="1200">
                <a:solidFill>
                  <a:srgbClr val="8FB3E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FB3E8"/>
                </a:solidFill>
                <a:latin typeface="Microsoft YaHei"/>
                <a:ea typeface="Microsoft YaHei"/>
              </a:rPr>
              <a:t>开题答辩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5724525" y="2505075"/>
            <a:ext cx="74295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3638550" y="2847975"/>
            <a:ext cx="4914900" cy="6477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>的轻量级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3886200" y="3571875"/>
            <a:ext cx="4419600" cy="6477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4200" b="1" spc="150">
                <a:solidFill>
                  <a:srgbClr val="FFFFFF"/>
                </a:solidFill>
                <a:latin typeface="Microsoft YaHei"/>
                <a:ea typeface="Microsoft YaHei"/>
              </a:rPr>
              <a:t>企业工艺生成系统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590675" y="4486275"/>
            <a:ext cx="90106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650" spc="75">
                <a:solidFill>
                  <a:srgbClr val="8FB3E8"/>
                </a:solidFill>
                <a:latin typeface="Microsoft YaHei"/>
                <a:ea typeface="Microsoft YaHei"/>
              </a:rPr>
              <a:t>A Lightweight Enterprise Manufacturing Process Generation System Based on RAG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5715000"/>
            <a:ext cx="12192000" cy="1143000"/>
          </a:xfrm>
          <a:prstGeom prst="rect">
            <a:avLst/>
          </a:prstGeom>
          <a:solidFill>
            <a:srgbClr val="000000">
              <a:alpha val="18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571500" y="6067425"/>
            <a:ext cx="2695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3E8"/>
                </a:solidFill>
                <a:latin typeface="Microsoft YaHei"/>
                <a:ea typeface="Microsoft YaHei"/>
              </a:rPr>
              <a:t>团队成员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571500" y="6286500"/>
            <a:ext cx="2695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熊佳昀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齐梦伟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张承伟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资唯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3648075" y="6086475"/>
            <a:ext cx="9525" cy="419100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038600" y="60674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3E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4038600" y="6286500"/>
            <a:ext cx="533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丁箐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10515600" y="6181725"/>
            <a:ext cx="1104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8FB3E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350">
                <a:solidFill>
                  <a:srgbClr val="8FB3E8"/>
                </a:solidFill>
                <a:latin typeface="Microsoft YaHei"/>
                <a:ea typeface="Microsoft YaHei"/>
              </a:rPr>
              <a:t>年</a:t>
            </a:r>
            <a:r>
              <a:rPr lang="en-US" sz="1350">
                <a:solidFill>
                  <a:srgbClr val="8FB3E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350">
                <a:solidFill>
                  <a:srgbClr val="8FB3E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5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457200" y="2809875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457200" y="3114675"/>
            <a:ext cx="21336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 spc="300">
                <a:solidFill>
                  <a:srgbClr val="FFFFFF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57200" y="3819525"/>
            <a:ext cx="2133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150">
                <a:solidFill>
                  <a:srgbClr val="8FB3E8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3733800" y="923925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3733800" y="923925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876675" y="1076325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572000" y="933450"/>
            <a:ext cx="22669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选题背景与意义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572000" y="1295400"/>
            <a:ext cx="2266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工艺知识痛点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通用大模型的局限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3733800" y="1981200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3733800" y="1981200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3876675" y="2133600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4572000" y="199072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项目目标与需求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4572000" y="2352675"/>
            <a:ext cx="1866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双链路定位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五大功能需求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3733800" y="3038475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3733800" y="3038475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3876675" y="3190875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4572000" y="3048000"/>
            <a:ext cx="20859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技术方案与选型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4572000" y="3409950"/>
            <a:ext cx="2085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总体架构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关键技术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组件选型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3733800" y="4095750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3733800" y="4095750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76675" y="4248150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4572000" y="4105275"/>
            <a:ext cx="22193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开发方法与进度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4572000" y="4467225"/>
            <a:ext cx="2219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迭代开发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测试方案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7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阶段安排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3733800" y="5153025"/>
            <a:ext cx="7886700" cy="800100"/>
          </a:xfrm>
          <a:custGeom>
            <a:pathLst>
              <a:path w="828" h="84">
                <a:moveTo>
                  <a:pt x="0" y="83"/>
                </a:moveTo>
                <a:lnTo>
                  <a:pt x="828" y="83"/>
                </a:lnTo>
                <a:lnTo>
                  <a:pt x="828" y="84"/>
                </a:lnTo>
                <a:lnTo>
                  <a:pt x="0" y="8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3733800" y="5153025"/>
            <a:ext cx="571500" cy="57150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3876675" y="5305425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4572000" y="5162550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2230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572000" y="5524500"/>
            <a:ext cx="190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系统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指令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文档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评估报告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42925" y="22860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4114800" y="1819275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114800" y="2124075"/>
            <a:ext cx="75057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1A2230"/>
                </a:solidFill>
                <a:latin typeface="Microsoft YaHei"/>
                <a:ea typeface="Microsoft YaHei"/>
              </a:rPr>
              <a:t>选题背景与意义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114800" y="2943225"/>
            <a:ext cx="750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研究意义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国内外现状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选题价值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4114800" y="3648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343400" y="3552825"/>
            <a:ext cx="50292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机械加工工艺知识高度依赖人工经验，手册检索效率低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4114800" y="42005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343400" y="4105275"/>
            <a:ext cx="33528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工艺知识传承困难，标准更新不及时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114800" y="47529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343400" y="4657725"/>
            <a:ext cx="46101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通用大模型直接生成参数存在幻觉与不可追溯问题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选题背景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9525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通用大模型直接生成工艺参数的三大痛点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381000" y="1457325"/>
            <a:ext cx="646747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590550" y="16668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95325" y="1771650"/>
            <a:ext cx="23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219200" y="1666875"/>
            <a:ext cx="5419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知识覆盖不全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219200" y="2000250"/>
            <a:ext cx="54197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训练数据缺乏企业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行业内部的专业工艺资料，关键参数缺失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381000" y="2714625"/>
            <a:ext cx="646747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590550" y="29241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95325" y="3028950"/>
            <a:ext cx="23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219200" y="2924175"/>
            <a:ext cx="5419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幻觉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安全风险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219200" y="3257550"/>
            <a:ext cx="54197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模型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一本正经地编造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切削参数，错误参数可能致刀具崩损、零件报废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381000" y="3971925"/>
            <a:ext cx="646747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590550" y="41814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695325" y="4286250"/>
            <a:ext cx="23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219200" y="4181475"/>
            <a:ext cx="5419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不可追溯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219200" y="4514850"/>
            <a:ext cx="54197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生成结果无来源依据，无法核对，难以满足工程可验证、可担责要求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7191375" y="1457325"/>
            <a:ext cx="4619625" cy="4829175"/>
          </a:xfrm>
          <a:prstGeom prst="roundRect">
            <a:avLst>
              <a:gd name="adj" fmla="val 2474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7458075" y="2838450"/>
            <a:ext cx="4086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我们的方案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7458075" y="3143250"/>
            <a:ext cx="4086225" cy="4857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检索增强生成（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RAG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7458075" y="3781425"/>
            <a:ext cx="4086225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D6E4F7"/>
                </a:solidFill>
                <a:latin typeface="Microsoft YaHei"/>
                <a:ea typeface="Microsoft YaHei"/>
              </a:rPr>
              <a:t>先检索、后生成，让模型基于权威工艺资料作答，从源头缓解幻觉与不可追溯问题。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7458075" y="4810125"/>
            <a:ext cx="3438525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010900" y="47434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B3E8"/>
                </a:solidFill>
                <a:latin typeface="Microsoft YaHei"/>
                <a:ea typeface="Microsoft YaHei"/>
              </a:rPr>
              <a:t>对症下药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542925" y="22860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4114800" y="169545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4114800" y="2000250"/>
            <a:ext cx="75057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1A2230"/>
                </a:solidFill>
                <a:latin typeface="Microsoft YaHei"/>
                <a:ea typeface="Microsoft YaHei"/>
              </a:rPr>
              <a:t>项目目标与需求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4114800" y="2819400"/>
            <a:ext cx="750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双链路定位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五大功能需求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4114800" y="3429000"/>
            <a:ext cx="7505700" cy="1733550"/>
          </a:xfrm>
          <a:prstGeom prst="roundRect">
            <a:avLst>
              <a:gd name="adj" fmla="val 549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343400" y="3657600"/>
            <a:ext cx="7048500" cy="4476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构建「离线建库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在线问答」的轻量级工艺生成系统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4343400" y="4200525"/>
            <a:ext cx="7048500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把工艺手册中的参数转化为可检索、可溯源的知识，自动生成带引用、可核对的加工指令。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项目目标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五大功能需求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对应选题五条硬性要求，一条不落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381000" y="2314575"/>
            <a:ext cx="2857500" cy="1123950"/>
          </a:xfrm>
          <a:prstGeom prst="roundRect">
            <a:avLst>
              <a:gd name="adj" fmla="val 678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552450" y="2486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覆盖完整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链路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552450" y="2752725"/>
            <a:ext cx="2514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解析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检索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重排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生成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溯源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评估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81000" y="5143500"/>
            <a:ext cx="2857500" cy="1181100"/>
          </a:xfrm>
          <a:prstGeom prst="roundRect">
            <a:avLst>
              <a:gd name="adj" fmla="val 6452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552450" y="5314950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核心目标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52450" y="5600700"/>
            <a:ext cx="2514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生成的参数真实可用、可核对、可追溯，而非仅供演示的玩具</a:t>
            </a:r>
            <a:r>
              <a:rPr lang="en-US" sz="1125">
                <a:solidFill>
                  <a:srgbClr val="D6E4F7"/>
                </a:solidFill>
                <a:latin typeface="Microsoft YaHei"/>
                <a:ea typeface="Microsoft YaHei"/>
              </a:rPr>
              <a:t xml:space="preserve"> Demo</a:t>
            </a: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3619500" y="9525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3771900" y="11715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886200" y="12668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4381500" y="11049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文档格式解析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381500" y="14001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解析工艺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PDF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的文字、表格、页码与版面结构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3619500" y="19431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3771900" y="21621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3886200" y="22574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4381500" y="20955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稠密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稀疏混合召回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4381500" y="23907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BGE-M3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稠密向量检索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BM25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关键词检索，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RRF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融合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3619500" y="29337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3771900" y="31527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3886200" y="32480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381500" y="30861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重排序模块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4381500" y="33813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Cross-encoder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bge-reranker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）二次精排，提升检索精度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3619500" y="39243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771900" y="41433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3886200" y="42386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4381500" y="40767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多轮对话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引用溯源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4381500" y="43719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上下文追问、查询改写；每条参数标注来源页码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3619500" y="4914900"/>
            <a:ext cx="8191500" cy="85725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3771900" y="51339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3886200" y="52292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4381500" y="5067300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多文档测试（人工评估）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4381500" y="5362575"/>
            <a:ext cx="72771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多份文档构建测试集，人工评估准确率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系统总体架构：双链路</a:t>
            </a:r>
            <a:endParaRPr/>
          </a:p>
        </p:txBody>
      </p:sp>
      <p:pic>
        <p:nvPicPr>
          <p:cNvPr id="2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57325"/>
            <a:ext cx="11239500" cy="4857750"/>
          </a:xfrm>
          <a:prstGeom prst="rect">
            <a:avLst/>
          </a:prstGeom>
          <a:ln/>
        </p:spPr>
      </p:pic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2" name="" descr="&lt;Slide&gt;&#10;  &lt;Box style={{ width: '1280px', height: '720px', background: '#FFFFFF', flexDirection: 'column' }}&gt;&#10;    {/* 页眉 */}&#10;    &lt;Box style={{ height: 72, background: '#1E4FA8', flexDirection: 'row', alignItems: 'center', justifyContent: 'space-between', paddingLeft: 40, paddingRight: 40 }}&gt;&#10;      &lt;Text style={{ color: '#FFFFFF', fontSize: 16 }}&gt;基于 RAG 的轻量级企业工艺生成系统&lt;/Text&gt;&#10;      &lt;Text style={{ color: 'rgba(255,255,255,0.85)', fontSize: 14 }}&gt;技术方案&lt;/Text&gt;&#10;    &lt;/Box&gt;&#10;&#10;    {/* 主标题 */}&#10;    &lt;Box style={{ paddingLeft: 40, paddingRight: 40, paddingTop: 22, paddingBottom: 8 }}&gt;&#10;      &lt;Text style={{ color: '#1A2230', fontSize: 34, fontWeight: 'bold' }}&gt;系统总体架构：双链路&lt;/Text&gt;&#10;    &lt;/Box&gt;&#10;&#10;    {/* 架构图（大图 anchor） */}&#10;    &lt;Box style={{ flex: 1, paddingLeft: 40, paddingRight: 40, paddingBottom: 8, alignItems: 'center', justifyContent: 'center' }}&gt;&#10;      &lt;svg width={1180} height={510} viewBox='0 0 1180 510'&gt;&#10;        {/* 离线建库链路（上） */}&#10;        &lt;rect x='0' y='6' width='1180' height='165' rx='12' fill='#F0F5FC' stroke='#D6DCE5' strokeWidth='1.5' /&gt;&#10;        &lt;text x='30' y='40' font-size='20' font-weight='bold' fill='#0E3F8C'&gt;离线建库链路（一次构建）&lt;/text&gt;&#10;&#10;        {/* 离线节点 */}&#10;        &lt;g font-size='15' fill='#1A2230' text-anchor='middle'&gt;&#10;          &lt;rect x='45' y='72' width='158' height='66' rx='8' fill='#FFFFFF' stroke='#1E4FA8' strokeWidth='1.5' /&gt;&#10;          &lt;text x='124' y='100' font-weight='bold'&gt;工艺 PDF&lt;/text&gt;&#10;          &lt;text x='124' y='122' fill='#8B97A8'&gt;原始文档&lt;/text&gt;&#10;&#10;          &lt;rect x='263' y='72' width='158' height='66' rx='8' fill='#FFFFFF' stroke='#1E4FA8' strokeWidth='1.5' /&gt;&#10;          &lt;text x='342' y='100' font-weight='bold'&gt;解析&lt;/text&gt;&#10;          &lt;text x='342' y='122' fill='#8B97A8'&gt;PyMuPDF + pdfplumber&lt;/text&gt;&#10;&#10;          &lt;rect x='481' y='72' width='158' height='66' rx='8' fill='#FFFFFF' stroke='#1E4FA8' strokeWidth='1.5' /&gt;&#10;          &lt;text x='560' y='100' font-weight='bold'&gt;分块&lt;/text&gt;&#10;          &lt;text x='560' y='122' fill='#8B97A8'&gt;递归 + 表格保护&lt;/text&gt;&#10;&#10;          &lt;rect x='699' y='72' width='158' height='66' rx='8' fill='#FFFFFF' stroke='#1E4FA8' strokeWidth='1.5' /&gt;&#10;          &lt;text x='778' y='100' font-weight='bold'&gt;向量化&lt;/text&gt;&#10;          &lt;text x='778' y='122' fill='#8B97A8'&gt;BGE-M3 嵌入&lt;/text&gt;&#10;&#10;          &lt;rect x='917' y='72' width='158' height='66' rx='8' fill='#1E4FA8' /&gt;&#10;          &lt;text x='996' y='100' font-weight='bold' fill='#FFFFFF'&gt;索引入库&lt;/text&gt;&#10;          &lt;text x='996' y='122' fill='#D6E4F7'&gt;Chroma + BM25&lt;/text&gt;&#10;        &lt;/g&gt;&#10;        {/* 离线箭头 */}&#10;        &lt;g stroke='#3D7BD9' stroke-width='2.5' fill='#3D7BD9'&gt;&#10;          &lt;path d='M203 105 L258 105' /&gt;&#10;          &lt;path d='M421 105 L476 105' /&gt;&#10;          &lt;path d='M639 105 L694 105' /&gt;&#10;          &lt;path d='M857 105 L912 105' /&gt;&#10;          &lt;path d='M258 105 l-8 -6 v12 z' /&gt;&#10;          &lt;path d='M476 105 l-8 -6 v12 z' /&gt;&#10;          &lt;path d='M694 105 l-8 -6 v12 z' /&gt;&#10;          &lt;path d='M912 105 l-8 -6 v12 z' /&gt;&#10;        &lt;/g&gt;&#10;&#10;        {/* 知识库（中间，上接离线、下接在线） */}&#10;        &lt;rect x='360' y='208' width='460' height='56' rx='28' fill='#0E3F8C' /&gt;&#10;        &lt;text x='590' y='242' font-size='19' font-weight='bold' fill='#FFFFFF' text-anchor='middle'&gt;工艺知识库（稠密向量 + 稀疏索引）&lt;/text&gt;&#10;        &lt;g&gt;&#10;          {/* 索引入库 → 知识库（L 形折线：下→左→下，接入知识库顶边正中） */}&#10;          &lt;path d='M996 138 L996 173 L590 173 L590 206' stroke='#3D7BD9' stroke-width='2.5' fill='none' /&gt;&#10;          &lt;path d='M590 206 l-8 12 l16 0 z' fill='#3D7BD9' /&gt;&#10;          &lt;text x='800' y='166' font-size='13' fill='#3D7BD9'&gt;写入索引&lt;/text&gt;&#10;          {/* 知识库 → 混合召回（L 形折线：下→左→下，接入混合召回顶边正中） */}&#10;          &lt;path d='M590 264 L590 330 L330 330 L330 402' stroke='#3D7BD9' stroke-width='2.5' fill='none' /&gt;&#10;          &lt;path d='M330 402 l-8 12 l16 0 z' fill='#3D7BD9' /&gt;&#10;          &lt;text x='350' y='322' font-size='13' fill='#3D7BD9'&gt;供在线检索&lt;/text&gt;&#10;        &lt;/g&gt;&#10;&#10;        {/* 在线问答链路（下） */}&#10;        &lt;rect x='0' y='342' width='1180' height='160' rx='12' fill='#F0F5FC' stroke='#D6DCE5' strokeWidth='1.5' /&gt;&#10;        &lt;text x='30' y='376' font-size='20' font-weight='bold' fill='#0E3F8C'&gt;在线问答链路（每次提问）&lt;/text&gt;&#10;&#10;        &lt;g font-size='14' fill='#1A2230' text-anchor='middle'&gt;&#10;          &lt;rect x='45' y='404' width='150' height='62' rx='8' fill='#FFFFFF' stroke='#1E4FA8' strokeWidth='1.5' /&gt;&#10;          &lt;text x='120' y='430' font-weight='bold'&gt;用户问题&lt;/text&gt;&#10;          &lt;text x='120' y='450' fill='#8B97A8'&gt;查询改写&lt;/text&gt;&#10;&#10;          &lt;rect x='255' y='404' width='150' height='62' rx='8' fill='#FFFFFF' stroke='#1E4FA8' strokeWidth='1.5' /&gt;&#10;          &lt;text x='330' y='430' font-weight='bold'&gt;混合召回&lt;/text&gt;&#10;          &lt;text x='330' y='450' fill='#8B97A8'&gt;稠密 + 稀疏&lt;/text&gt;&#10;&#10;          &lt;rect x='465' y='404' width='150' height='62' rx='8' fill='#FFFFFF' stroke='#1E4FA8' strokeWidth='1.5' /&gt;&#10;          &lt;text x='540' y='430' font-weight='bold'&gt;RRF 融合&lt;/text&gt;&#10;          &lt;text x='540' y='450' fill='#8B97A8'&gt;k=60 去重&lt;/text&gt;&#10;&#10;          &lt;rect x='675' y='404' width='150' height='62' rx='8' fill='#FFFFFF' stroke='#1E4FA8' strokeWidth='1.5' /&gt;&#10;          &lt;text x='750' y='430' font-weight='bold'&gt;重排序&lt;/text&gt;&#10;          &lt;text x='750' y='450' fill='#8B97A8'&gt;bge-reranker&lt;/text&gt;&#10;&#10;          &lt;rect x='885' y='404' width='150' height='62' rx='8' fill='#FFFFFF' stroke='#1E4FA8' strokeWidth='1.5' /&gt;&#10;          &lt;text x='960' y='430' font-weight='bold'&gt;生成&lt;/text&gt;&#10;          &lt;text x='960' y='450' fill='#8B97A8'&gt;大模型 API&lt;/text&gt;&#10;        &lt;/g&gt;&#10;        {/* 加工指令（右侧终点） */}&#10;        &lt;rect x='1050' y='404' width='115' height='62' rx='8' fill='#1E4FA8' /&gt;&#10;        &lt;text x='1107' y='430' font-size='14' font-weight='bold' fill='#FFFFFF' text-anchor='middle'&gt;加工指令&lt;/text&gt;&#10;        &lt;text x='1107' y='450' font-size='14' fill='#D6E4F7' text-anchor='middle'&gt;带引用&lt;/text&gt;&#10;&#10;        &lt;g stroke='#3D7BD9' stroke-width='2.5' fill='#3D7BD9'&gt;&#10;          &lt;path d='M195 435 L250 435' /&gt;&#10;          &lt;path d='M405 435 L460 435' /&gt;&#10;          &lt;path d='M615 435 L670 435' /&gt;&#10;          &lt;path d='M825 435 L880 435' /&gt;&#10;          &lt;path d='M1035 435 L1045 435' /&gt;&#10;          &lt;path d='M250 435 l-8 -6 v12 z' /&gt;&#10;          &lt;path d='M460 435 l-8 -6 v12 z' /&gt;&#10;          &lt;path d='M670 435 l-8 -6 v12 z' /&gt;&#10;          &lt;path d='M880 435 l-8 -6 v12 z' /&gt;&#10;          &lt;path d='M1045 435 l-8 -6 v12 z' /&gt;&#10;        &lt;/g&gt;&#10;      &lt;/svg&gt;&#10;    &lt;/Box&gt;&#10;&#10;    {/* 页脚 */}&#10;    &lt;Box style={{ height: 40, flexDirection: 'row', alignItems: 'center', justifyContent: 'space-between', paddingLeft: 40, paddingRight: 40 }}&gt;&#10;      &lt;Text style={{ color: '#8B97A8', fontSize: 14 }}&gt;中国科学技术大学软件学院&lt;/Text&gt;&#10;      &lt;Text style={{ color: '#1E4FA8', fontSize: 16, fontWeight: 'bold' }}&gt;08 / 17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系统总体架构：双链路</a:t>
            </a:r>
            <a:endParaRPr/>
          </a:p>
        </p:txBody>
      </p:sp>
      <p:pic>
        <p:nvPicPr>
          <p:cNvPr id="2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57325"/>
            <a:ext cx="11239500" cy="4857750"/>
          </a:xfrm>
          <a:prstGeom prst="rect">
            <a:avLst/>
          </a:prstGeom>
          <a:ln/>
        </p:spPr>
      </p:pic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08 / 17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在线问答链路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每次提问，从知识库检索并生成带引用的加工指令</a:t>
            </a:r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381000" y="5143500"/>
            <a:ext cx="2857500" cy="1181100"/>
          </a:xfrm>
          <a:prstGeom prst="roundRect">
            <a:avLst>
              <a:gd name="adj" fmla="val 6452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52450" y="5314950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关键点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52450" y="5600700"/>
            <a:ext cx="2514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多轮查询改写：把含代词、省略的追问补全为独立问题，再走检索链路。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3619500" y="952500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771900" y="11811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933825" y="1285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4400550" y="1104900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查询改写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400550" y="1419225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记录历史，将追问补全为独立问题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3619500" y="2076450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3771900" y="23050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3933825" y="24098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400550" y="2228850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混合召回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400550" y="2543175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并行执行向量检索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BM25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检索</a:t>
            </a:r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3619500" y="3190875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3771900" y="3419475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3933825" y="35242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400550" y="3343275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RRF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融合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4400550" y="3657600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k=60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合并两路结果并去重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3619500" y="4314825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3771900" y="4543425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933825" y="4648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400550" y="4467225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重排序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4400550" y="4781550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bge-reranker-v2-m3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精排，取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top 3~5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3619500" y="5429250"/>
            <a:ext cx="819150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3771900" y="56578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3933825" y="57626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400550" y="5581650"/>
            <a:ext cx="7258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生成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溯源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4400550" y="5895975"/>
            <a:ext cx="7258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拼装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Prompt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调用大模型，生成带引用的结构化指令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" y="9334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两大关键技术特色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381000" y="1457325"/>
            <a:ext cx="6391275" cy="4829175"/>
          </a:xfrm>
          <a:prstGeom prst="roundRect">
            <a:avLst>
              <a:gd name="adj" fmla="val 2761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666750" y="1743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81050" y="18002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123950" y="1762125"/>
            <a:ext cx="3314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混合召回</a:t>
            </a: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重排序的两级检索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66750" y="2867025"/>
            <a:ext cx="5819775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双路召回保证「不遗漏」：稠密向量负责语义理解，</a:t>
            </a:r>
            <a:r>
              <a:rPr lang="en-US" sz="1425">
                <a:solidFill>
                  <a:srgbClr val="D6E4F7"/>
                </a:solidFill>
                <a:latin typeface="Microsoft YaHei"/>
                <a:ea typeface="Microsoft YaHei"/>
              </a:rPr>
              <a:t xml:space="preserve">BM25 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负责型号、数字等精确匹配；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66750" y="4305300"/>
            <a:ext cx="5819775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425">
                <a:solidFill>
                  <a:srgbClr val="D6E4F7"/>
                </a:solidFill>
                <a:latin typeface="Microsoft YaHei"/>
                <a:ea typeface="Microsoft YaHei"/>
              </a:rPr>
              <a:t xml:space="preserve">Cross-encoder 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精排保证「准确」：在有限候选中二次排序，兼顾检索质量与响应速度。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666750" y="58674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57250" y="5829300"/>
            <a:ext cx="2571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B3E8"/>
                </a:solidFill>
                <a:latin typeface="Microsoft YaHei"/>
                <a:ea typeface="Microsoft YaHei"/>
              </a:rPr>
              <a:t>针对数字、牌号对精确匹配要求高的痛点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7077075" y="1457325"/>
            <a:ext cx="4733925" cy="4829175"/>
          </a:xfrm>
          <a:prstGeom prst="roundRect">
            <a:avLst>
              <a:gd name="adj" fmla="val 28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7362825" y="1743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477125" y="18002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820025" y="1762125"/>
            <a:ext cx="23241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表格处理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可信生成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7362825" y="2962275"/>
            <a:ext cx="4162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表格与参数处理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362825" y="3228975"/>
            <a:ext cx="41624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解析保留表格结构，分块保护完整表格，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BM25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精确匹配型号数字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362825" y="4067175"/>
            <a:ext cx="4162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强约束可信生成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362825" y="4333875"/>
            <a:ext cx="41624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Prompt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约束「只依据资料作答、资料不足即声明」，参数与来源页码绑定，实现可核对、可追溯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7362825" y="58674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553325" y="5829300"/>
            <a:ext cx="2000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E4FA8"/>
                </a:solidFill>
                <a:latin typeface="Microsoft YaHei"/>
                <a:ea typeface="Microsoft YaHei"/>
              </a:rPr>
              <a:t>实现可核对、可追溯的加工指令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技术方案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381000" y="952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2857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技术选型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1809750"/>
            <a:ext cx="2857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全部基于开源、轻量组件，普通设备即可运行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81000" y="5143500"/>
            <a:ext cx="2857500" cy="1181100"/>
          </a:xfrm>
          <a:prstGeom prst="roundRect">
            <a:avLst>
              <a:gd name="adj" fmla="val 6452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52450" y="5314950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选型原则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552450" y="5600700"/>
            <a:ext cx="2514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6E4F7"/>
                </a:solidFill>
                <a:latin typeface="Microsoft YaHei"/>
                <a:ea typeface="Microsoft YaHei"/>
              </a:rPr>
              <a:t>轻量、开源、零运维，契合「轻量级」定位，可平滑替换为企业内部知识库。</a:t>
            </a:r>
            <a:endParaRPr/>
          </a:p>
        </p:txBody>
      </p:sp>
      <p:graphicFrame>
        <p:nvGraphicFramePr>
          <p:cNvPr id="54" name=""/>
          <p:cNvGraphicFramePr/>
          <p:nvPr/>
        </p:nvGraphicFramePr>
        <p:xfrm rot="0" flipH="0" flipV="0">
          <a:off x="3619500" y="952500"/>
          <a:ext cx="8191500" cy="4191000"/>
        </p:xfrm>
        <a:graphic>
          <a:graphicData uri="http://schemas.openxmlformats.org/drawingml/2006/table">
            <a:tbl>
              <a:tblGrid>
                <a:gridCol w="2169417">
                  <a:extLst>
                    <a:ext uri="{9D8B030D-6E8A-4147-A177-3AD203B41FA5}">
                      <a16:colId val="1"/>
                    </a:ext>
                  </a:extLst>
                </a:gridCol>
                <a:gridCol w="6022083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技术选型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编程语言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Python 3.10+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RAG 框架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LangChain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向量数据库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Chroma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稀疏检索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rank_bm25（BM25）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嵌入模型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BGE-M3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重排序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bge-reranker-v2-m3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PDF 解析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PyMuPDF + pdfplumber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大模型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开源大模型 API（OpenAI 兼容）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界面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Gradio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版本管理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Git + GitHub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</a:tbl>
          </a:graphicData>
        </a:graphic>
      </p:graphicFrame>
      <p:sp>
        <p:nvSpPr>
          <p:cNvPr id="55" name=""/>
          <p:cNvSpPr/>
          <p:nvPr/>
        </p:nvSpPr>
        <p:spPr>
          <a:xfrm rot="0" flipH="0" flipV="0">
            <a:off x="3619500" y="5800725"/>
            <a:ext cx="8191500" cy="523875"/>
          </a:xfrm>
          <a:prstGeom prst="roundRect">
            <a:avLst>
              <a:gd name="adj" fmla="val 14545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3752850" y="60293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3943350" y="5934075"/>
            <a:ext cx="3895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嵌入与重排模型支持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或本地部署两种方式，可做对比实验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42925" y="22860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4114800" y="638175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4114800" y="904875"/>
            <a:ext cx="75057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1A2230"/>
                </a:solidFill>
                <a:latin typeface="Microsoft YaHei"/>
                <a:ea typeface="Microsoft YaHei"/>
              </a:rPr>
              <a:t>开发方法与测试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4114800" y="1685925"/>
            <a:ext cx="750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模块化迭代开发</a:t>
            </a:r>
            <a:r>
              <a:rPr lang="en-US" sz="1500" spc="7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spc="75">
                <a:solidFill>
                  <a:srgbClr val="8B97A8"/>
                </a:solidFill>
                <a:latin typeface="Microsoft YaHei"/>
                <a:ea typeface="Microsoft YaHei"/>
              </a:rPr>
              <a:t>四类测试方案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4114800" y="2390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4343400" y="2295525"/>
            <a:ext cx="680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模块化、迭代式开发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4343400" y="2590800"/>
            <a:ext cx="68008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按解析建库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检索重排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生成对话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溯源界面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测试评估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分阶段推进，先单测后集成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4114800" y="32289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4343400" y="3133725"/>
            <a:ext cx="5572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功能测试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343400" y="3429000"/>
            <a:ext cx="55721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验证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PDF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解析、表格抽取、混合检索、重排序、生成、溯源各模块正确性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4114800" y="40671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4343400" y="3971925"/>
            <a:ext cx="5657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多文档测试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人工评估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343400" y="4267200"/>
            <a:ext cx="56578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构建典型工艺问题测试集，由评估人员对相关性、正确性、引用准确性打分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4114800" y="49053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4343400" y="4810125"/>
            <a:ext cx="5762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对比实验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4343400" y="5105400"/>
            <a:ext cx="5762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比较仅向量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向量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+BM25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混合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+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重排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的召回与生成效果，分析各模块贡献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4114800" y="5724525"/>
            <a:ext cx="7505700" cy="495300"/>
          </a:xfrm>
          <a:prstGeom prst="roundRect">
            <a:avLst>
              <a:gd name="adj" fmla="val 15385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42672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4457700" y="5876925"/>
            <a:ext cx="3048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评估结果用于反哺优化解析、分块与检索策略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2543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的轻量级企业工艺生成系统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1277600" y="2667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方法进度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进度安排（</a:t>
            </a:r>
            <a:r>
              <a:rPr lang="en-US" sz="2550" b="1">
                <a:solidFill>
                  <a:srgbClr val="1A2230"/>
                </a:solidFill>
                <a:latin typeface="Microsoft YaHei"/>
                <a:ea typeface="Microsoft YaHei"/>
              </a:rPr>
              <a:t>2026.10 — 2027.06</a:t>
            </a:r>
            <a:r>
              <a:rPr lang="zh-CN" sz="25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pic>
        <p:nvPicPr>
          <p:cNvPr id="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438275"/>
            <a:ext cx="11430000" cy="2381250"/>
          </a:xfrm>
          <a:prstGeom prst="rect">
            <a:avLst/>
          </a:prstGeom>
          <a:ln/>
        </p:spPr>
      </p:pic>
      <p:sp>
        <p:nvSpPr>
          <p:cNvPr id="89" name=""/>
          <p:cNvSpPr/>
          <p:nvPr/>
        </p:nvSpPr>
        <p:spPr>
          <a:xfrm rot="0" flipH="0" flipV="0">
            <a:off x="381000" y="3971925"/>
            <a:ext cx="11430000" cy="885825"/>
          </a:xfrm>
          <a:prstGeom prst="roundRect">
            <a:avLst>
              <a:gd name="adj" fmla="val 10753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552450" y="4210050"/>
            <a:ext cx="41910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04850" y="4314825"/>
            <a:ext cx="11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123950" y="4143375"/>
            <a:ext cx="10515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七个阶段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阶段性成果可验收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123950" y="4410075"/>
            <a:ext cx="105156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当前已完成第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阶段（文献调研、需求分析、开题报告、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GitHub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仓库），即将进入第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阶段解析与离线建库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381000" y="4991100"/>
            <a:ext cx="3705225" cy="1485900"/>
          </a:xfrm>
          <a:prstGeom prst="roundRect">
            <a:avLst>
              <a:gd name="adj" fmla="val 641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571500" y="51816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阶段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1-2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1333500" y="5191125"/>
            <a:ext cx="752475" cy="190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409700" y="5210175"/>
            <a:ext cx="600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开题</a:t>
            </a:r>
            <a:r>
              <a:rPr lang="en-US" sz="975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建库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571500" y="5467350"/>
            <a:ext cx="33242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文献调研与需求分析、开题报告、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PDF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解析与知识库构建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4238625" y="4991100"/>
            <a:ext cx="3714750" cy="1485900"/>
          </a:xfrm>
          <a:prstGeom prst="roundRect">
            <a:avLst>
              <a:gd name="adj" fmla="val 641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4429125" y="51816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阶段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3-4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5191125" y="5191125"/>
            <a:ext cx="752475" cy="190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5267325" y="5210175"/>
            <a:ext cx="600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检索</a:t>
            </a:r>
            <a:r>
              <a:rPr lang="en-US" sz="975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原型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429125" y="5467350"/>
            <a:ext cx="3333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混合检索与重排序、生成与多轮对话、可运行问答原型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8105775" y="4991100"/>
            <a:ext cx="3705225" cy="1485900"/>
          </a:xfrm>
          <a:prstGeom prst="roundRect">
            <a:avLst>
              <a:gd name="adj" fmla="val 641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296275" y="51816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阶段</a:t>
            </a: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5-7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9058275" y="5191125"/>
            <a:ext cx="752475" cy="190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9134475" y="5210175"/>
            <a:ext cx="600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系统</a:t>
            </a:r>
            <a:r>
              <a:rPr lang="en-US" sz="975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1E4FA8"/>
                </a:solidFill>
                <a:latin typeface="Microsoft YaHei"/>
                <a:ea typeface="Microsoft YaHei"/>
              </a:rPr>
              <a:t>结题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8296275" y="5467350"/>
            <a:ext cx="332422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溯源与界面、多文档测试评估、结题报告与答辩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中国科学技术大学软件学院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1268075" y="65722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0" y="0"/>
            <a:ext cx="3429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1190625" y="1895475"/>
            <a:ext cx="1047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00">
                <a:solidFill>
                  <a:srgbClr val="8B97A8"/>
                </a:solidFill>
                <a:latin typeface="Microsoft YaHei"/>
                <a:ea typeface="Microsoft YaHei"/>
              </a:rPr>
              <a:t>CHAPTER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542925" y="2295525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0E3F8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1019175" y="4772025"/>
            <a:ext cx="139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B97A8"/>
                </a:solidFill>
                <a:latin typeface="Microsoft YaHei"/>
                <a:ea typeface="Microsoft YaHei"/>
              </a:rPr>
              <a:t>预期成果</a:t>
            </a:r>
            <a:r>
              <a:rPr lang="en-US" sz="1200" spc="1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150">
                <a:solidFill>
                  <a:srgbClr val="8B97A8"/>
                </a:solidFill>
                <a:latin typeface="Microsoft YaHei"/>
                <a:ea typeface="Microsoft YaHei"/>
              </a:rPr>
              <a:t>交付物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4114800" y="4572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114800" y="628650"/>
            <a:ext cx="75057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Microsoft YaHei"/>
                <a:ea typeface="Microsoft YaHei"/>
              </a:rPr>
              <a:t>预期成果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114800" y="1266825"/>
            <a:ext cx="7505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spc="75">
                <a:solidFill>
                  <a:srgbClr val="8B97A8"/>
                </a:solidFill>
                <a:latin typeface="Microsoft YaHei"/>
                <a:ea typeface="Microsoft YaHei"/>
              </a:rPr>
              <a:t>五项可验收成果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4114800" y="1609725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4238625" y="18383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343400" y="18954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676775" y="1733550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可运行系统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676775" y="1981200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覆盖解析、混合检索、重排、多轮对话、引用溯源，提供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界面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4114800" y="2476500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4238625" y="2705100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4343400" y="276225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676775" y="2600325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结构化加工指令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676775" y="2847975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参数忠实于资料、可定位原文页码，支持资料不足时的安全提示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4114800" y="3343275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4238625" y="35718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343400" y="362902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676775" y="3467100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源码与工程文档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676775" y="3714750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代码托管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GitHub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，模块结构清晰、附使用说明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114800" y="4210050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4238625" y="4438650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4343400" y="44958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4676775" y="4333875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评估报告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676775" y="4581525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多文档测试问题集、人工评估结果、检索策略对比实验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4114800" y="5076825"/>
            <a:ext cx="7505700" cy="752475"/>
          </a:xfrm>
          <a:prstGeom prst="roundRect">
            <a:avLst>
              <a:gd name="adj" fmla="val 126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4238625" y="53054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343400" y="53625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676775" y="5200650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结题与技术报告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4676775" y="5448300"/>
            <a:ext cx="6819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总结系统设计、关键技术与改进方向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4114800" y="5943600"/>
            <a:ext cx="7505700" cy="4572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4248150" y="61341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438650" y="6076950"/>
            <a:ext cx="3505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覆盖选题五条要求的完整闭环，成果可演示、可验收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5724525" y="2266950"/>
            <a:ext cx="742950" cy="381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800600" y="2609850"/>
            <a:ext cx="2590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800" b="1" spc="300">
                <a:solidFill>
                  <a:srgbClr val="FFFFFF"/>
                </a:solidFill>
                <a:latin typeface="Microsoft YaHei"/>
                <a:ea typeface="Microsoft YaHei"/>
              </a:rPr>
              <a:t>感谢聆听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857750" y="3648075"/>
            <a:ext cx="2476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150">
                <a:solidFill>
                  <a:srgbClr val="8FB3E8"/>
                </a:solidFill>
                <a:latin typeface="Microsoft YaHei"/>
                <a:ea typeface="Microsoft YaHei"/>
              </a:rPr>
              <a:t>恳请各位老师批评指正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4162425" y="4381500"/>
            <a:ext cx="2314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熊佳昀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齐梦伟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张承伟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资唯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6705600" y="4391025"/>
            <a:ext cx="9525" cy="190500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943725" y="4381500"/>
            <a:ext cx="1085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指导教师</a:t>
            </a:r>
            <a:r>
              <a:rPr lang="en-US" sz="1350">
                <a:solidFill>
                  <a:srgbClr val="D6E4F7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D6E4F7"/>
                </a:solidFill>
                <a:latin typeface="Microsoft YaHei"/>
                <a:ea typeface="Microsoft YaHei"/>
              </a:rPr>
              <a:t>丁箐</a:t>
            </a:r>
            <a:endParaRPr/>
          </a:p>
        </p:txBody>
      </p:sp>
      <p:pic>
        <p:nvPicPr>
          <p:cNvPr id="156" name=""/>
          <p:cNvPicPr>
            <a:picLocks noChangeAspect="1"/>
          </p:cNvPicPr>
          <p:nvPr/>
        </p:nvPicPr>
        <p:blipFill>
          <a:blip>
            <a:alphaModFix amt="10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457700" y="457200"/>
            <a:ext cx="327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中国科学技术大学软件学院</a:t>
            </a: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软件工程实践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5067300" y="6210300"/>
            <a:ext cx="2057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年</a:t>
            </a: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月</a:t>
            </a:r>
            <a:r>
              <a:rPr lang="en-US" sz="1200" spc="150">
                <a:solidFill>
                  <a:srgbClr val="8FB3E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150">
                <a:solidFill>
                  <a:srgbClr val="8FB3E8"/>
                </a:solidFill>
                <a:latin typeface="Microsoft YaHei"/>
                <a:ea typeface="Microsoft YaHei"/>
              </a:rPr>
              <a:t>开题答辩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2026-10-29T21:20:46Z</dcterms:created>
  <dcterms:modified xsi:type="dcterms:W3CDTF">2026-10-29T21:20:46Z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{"AIGC":{"Label":"1","ContentProducer":"00119111010856365494821B355","ProduceID":"01a185ae55d274438453e3741ddd1c51","ReservedCode1":"","ContentPropagator":"00119111010856365494821B355","PropagateID":"01a185ae55d274438453e3741ddd1c51","ReservedCode2":""}}</vt:lpwstr>
  </property>
</Properties>
</file>